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B19B1-A882-697C-EBA6-CA1C82B787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459826C-D28F-7ED9-5A8A-B4D0043B1B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E6DB6A0-2189-2CB5-C72D-88DC8A5F226A}"/>
              </a:ext>
            </a:extLst>
          </p:cNvPr>
          <p:cNvSpPr>
            <a:spLocks noGrp="1"/>
          </p:cNvSpPr>
          <p:nvPr>
            <p:ph type="dt" sz="half" idx="10"/>
          </p:nvPr>
        </p:nvSpPr>
        <p:spPr/>
        <p:txBody>
          <a:bodyPr/>
          <a:lstStyle/>
          <a:p>
            <a:fld id="{430C5312-37EF-49AA-8BF8-F09930C75388}" type="datetimeFigureOut">
              <a:rPr lang="en-US" smtClean="0"/>
              <a:t>11/20/2025</a:t>
            </a:fld>
            <a:endParaRPr lang="en-US"/>
          </a:p>
        </p:txBody>
      </p:sp>
      <p:sp>
        <p:nvSpPr>
          <p:cNvPr id="5" name="Footer Placeholder 4">
            <a:extLst>
              <a:ext uri="{FF2B5EF4-FFF2-40B4-BE49-F238E27FC236}">
                <a16:creationId xmlns:a16="http://schemas.microsoft.com/office/drawing/2014/main" id="{D8E94033-7213-FADD-9078-E1E7C9B943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6A629B-E997-187C-DDA6-0A3AC81C3036}"/>
              </a:ext>
            </a:extLst>
          </p:cNvPr>
          <p:cNvSpPr>
            <a:spLocks noGrp="1"/>
          </p:cNvSpPr>
          <p:nvPr>
            <p:ph type="sldNum" sz="quarter" idx="12"/>
          </p:nvPr>
        </p:nvSpPr>
        <p:spPr/>
        <p:txBody>
          <a:bodyPr/>
          <a:lstStyle/>
          <a:p>
            <a:fld id="{8B749449-19F6-4F62-9074-16E3A54B4410}" type="slidenum">
              <a:rPr lang="en-US" smtClean="0"/>
              <a:t>‹#›</a:t>
            </a:fld>
            <a:endParaRPr lang="en-US"/>
          </a:p>
        </p:txBody>
      </p:sp>
    </p:spTree>
    <p:extLst>
      <p:ext uri="{BB962C8B-B14F-4D97-AF65-F5344CB8AC3E}">
        <p14:creationId xmlns:p14="http://schemas.microsoft.com/office/powerpoint/2010/main" val="917076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A9480-BFC1-7853-716D-02ED421479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A07CAA-1AA1-A66A-D4F0-9461A46344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C222EA-D2B8-5C22-8A4A-C9CFC4F92199}"/>
              </a:ext>
            </a:extLst>
          </p:cNvPr>
          <p:cNvSpPr>
            <a:spLocks noGrp="1"/>
          </p:cNvSpPr>
          <p:nvPr>
            <p:ph type="dt" sz="half" idx="10"/>
          </p:nvPr>
        </p:nvSpPr>
        <p:spPr/>
        <p:txBody>
          <a:bodyPr/>
          <a:lstStyle/>
          <a:p>
            <a:fld id="{430C5312-37EF-49AA-8BF8-F09930C75388}" type="datetimeFigureOut">
              <a:rPr lang="en-US" smtClean="0"/>
              <a:t>11/20/2025</a:t>
            </a:fld>
            <a:endParaRPr lang="en-US"/>
          </a:p>
        </p:txBody>
      </p:sp>
      <p:sp>
        <p:nvSpPr>
          <p:cNvPr id="5" name="Footer Placeholder 4">
            <a:extLst>
              <a:ext uri="{FF2B5EF4-FFF2-40B4-BE49-F238E27FC236}">
                <a16:creationId xmlns:a16="http://schemas.microsoft.com/office/drawing/2014/main" id="{2AC1578D-B77A-B9D8-9647-BCBCAAC252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7E062E-68B7-7FE8-EBB0-7354CAB0E354}"/>
              </a:ext>
            </a:extLst>
          </p:cNvPr>
          <p:cNvSpPr>
            <a:spLocks noGrp="1"/>
          </p:cNvSpPr>
          <p:nvPr>
            <p:ph type="sldNum" sz="quarter" idx="12"/>
          </p:nvPr>
        </p:nvSpPr>
        <p:spPr/>
        <p:txBody>
          <a:bodyPr/>
          <a:lstStyle/>
          <a:p>
            <a:fld id="{8B749449-19F6-4F62-9074-16E3A54B4410}" type="slidenum">
              <a:rPr lang="en-US" smtClean="0"/>
              <a:t>‹#›</a:t>
            </a:fld>
            <a:endParaRPr lang="en-US"/>
          </a:p>
        </p:txBody>
      </p:sp>
    </p:spTree>
    <p:extLst>
      <p:ext uri="{BB962C8B-B14F-4D97-AF65-F5344CB8AC3E}">
        <p14:creationId xmlns:p14="http://schemas.microsoft.com/office/powerpoint/2010/main" val="28747501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1B20-4816-A3A9-8D20-01E8A291C4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6ABFF95-86A9-FD3A-9641-D2E8DCC220F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859966-F348-A3D1-7A04-4BE5015D77B1}"/>
              </a:ext>
            </a:extLst>
          </p:cNvPr>
          <p:cNvSpPr>
            <a:spLocks noGrp="1"/>
          </p:cNvSpPr>
          <p:nvPr>
            <p:ph type="dt" sz="half" idx="10"/>
          </p:nvPr>
        </p:nvSpPr>
        <p:spPr/>
        <p:txBody>
          <a:bodyPr/>
          <a:lstStyle/>
          <a:p>
            <a:fld id="{430C5312-37EF-49AA-8BF8-F09930C75388}" type="datetimeFigureOut">
              <a:rPr lang="en-US" smtClean="0"/>
              <a:t>11/20/2025</a:t>
            </a:fld>
            <a:endParaRPr lang="en-US"/>
          </a:p>
        </p:txBody>
      </p:sp>
      <p:sp>
        <p:nvSpPr>
          <p:cNvPr id="5" name="Footer Placeholder 4">
            <a:extLst>
              <a:ext uri="{FF2B5EF4-FFF2-40B4-BE49-F238E27FC236}">
                <a16:creationId xmlns:a16="http://schemas.microsoft.com/office/drawing/2014/main" id="{027BF9C8-9CBE-6D95-F841-03800D2BBF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02ADAF-D940-481F-AB60-FFA99409D2BD}"/>
              </a:ext>
            </a:extLst>
          </p:cNvPr>
          <p:cNvSpPr>
            <a:spLocks noGrp="1"/>
          </p:cNvSpPr>
          <p:nvPr>
            <p:ph type="sldNum" sz="quarter" idx="12"/>
          </p:nvPr>
        </p:nvSpPr>
        <p:spPr/>
        <p:txBody>
          <a:bodyPr/>
          <a:lstStyle/>
          <a:p>
            <a:fld id="{8B749449-19F6-4F62-9074-16E3A54B4410}" type="slidenum">
              <a:rPr lang="en-US" smtClean="0"/>
              <a:t>‹#›</a:t>
            </a:fld>
            <a:endParaRPr lang="en-US"/>
          </a:p>
        </p:txBody>
      </p:sp>
    </p:spTree>
    <p:extLst>
      <p:ext uri="{BB962C8B-B14F-4D97-AF65-F5344CB8AC3E}">
        <p14:creationId xmlns:p14="http://schemas.microsoft.com/office/powerpoint/2010/main" val="2348963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87570-12EC-1D0D-8F75-A7AEAD7A2E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BDC017-A878-4824-826C-2CA1CF5563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01B941-783E-816A-D3F3-FB90DA5B521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2BA3673-968D-37D3-5377-98054CAD26A2}"/>
              </a:ext>
            </a:extLst>
          </p:cNvPr>
          <p:cNvSpPr>
            <a:spLocks noGrp="1"/>
          </p:cNvSpPr>
          <p:nvPr>
            <p:ph type="dt" sz="half" idx="10"/>
          </p:nvPr>
        </p:nvSpPr>
        <p:spPr/>
        <p:txBody>
          <a:bodyPr/>
          <a:lstStyle/>
          <a:p>
            <a:fld id="{430C5312-37EF-49AA-8BF8-F09930C75388}" type="datetimeFigureOut">
              <a:rPr lang="en-US" smtClean="0"/>
              <a:t>11/20/2025</a:t>
            </a:fld>
            <a:endParaRPr lang="en-US"/>
          </a:p>
        </p:txBody>
      </p:sp>
      <p:sp>
        <p:nvSpPr>
          <p:cNvPr id="6" name="Footer Placeholder 5">
            <a:extLst>
              <a:ext uri="{FF2B5EF4-FFF2-40B4-BE49-F238E27FC236}">
                <a16:creationId xmlns:a16="http://schemas.microsoft.com/office/drawing/2014/main" id="{38EFCB48-2E09-8CCB-5EBD-60372396A4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1269F6-1908-184A-685A-A89D2B769EAD}"/>
              </a:ext>
            </a:extLst>
          </p:cNvPr>
          <p:cNvSpPr>
            <a:spLocks noGrp="1"/>
          </p:cNvSpPr>
          <p:nvPr>
            <p:ph type="sldNum" sz="quarter" idx="12"/>
          </p:nvPr>
        </p:nvSpPr>
        <p:spPr/>
        <p:txBody>
          <a:bodyPr/>
          <a:lstStyle/>
          <a:p>
            <a:fld id="{8B749449-19F6-4F62-9074-16E3A54B4410}" type="slidenum">
              <a:rPr lang="en-US" smtClean="0"/>
              <a:t>‹#›</a:t>
            </a:fld>
            <a:endParaRPr lang="en-US"/>
          </a:p>
        </p:txBody>
      </p:sp>
    </p:spTree>
    <p:extLst>
      <p:ext uri="{BB962C8B-B14F-4D97-AF65-F5344CB8AC3E}">
        <p14:creationId xmlns:p14="http://schemas.microsoft.com/office/powerpoint/2010/main" val="3293079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6FB77-1232-C918-ABDA-0F31A49EB38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3149EEF-9E60-2A11-A33B-10EACCF6FC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3B3FC3-EFFD-32FD-C2D5-3D98F866CE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08C924A-8403-7932-2060-34E442769B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F966AA-51A3-668D-60A0-33424D8D96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D77DDC-635E-0623-B3B3-1FCD44E17C6B}"/>
              </a:ext>
            </a:extLst>
          </p:cNvPr>
          <p:cNvSpPr>
            <a:spLocks noGrp="1"/>
          </p:cNvSpPr>
          <p:nvPr>
            <p:ph type="dt" sz="half" idx="10"/>
          </p:nvPr>
        </p:nvSpPr>
        <p:spPr/>
        <p:txBody>
          <a:bodyPr/>
          <a:lstStyle/>
          <a:p>
            <a:fld id="{430C5312-37EF-49AA-8BF8-F09930C75388}" type="datetimeFigureOut">
              <a:rPr lang="en-US" smtClean="0"/>
              <a:t>11/20/2025</a:t>
            </a:fld>
            <a:endParaRPr lang="en-US"/>
          </a:p>
        </p:txBody>
      </p:sp>
      <p:sp>
        <p:nvSpPr>
          <p:cNvPr id="8" name="Footer Placeholder 7">
            <a:extLst>
              <a:ext uri="{FF2B5EF4-FFF2-40B4-BE49-F238E27FC236}">
                <a16:creationId xmlns:a16="http://schemas.microsoft.com/office/drawing/2014/main" id="{0212BFE3-B202-0B16-DE33-C4B286E744D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E70D9AD-75E5-FA6F-509D-284AB784F61C}"/>
              </a:ext>
            </a:extLst>
          </p:cNvPr>
          <p:cNvSpPr>
            <a:spLocks noGrp="1"/>
          </p:cNvSpPr>
          <p:nvPr>
            <p:ph type="sldNum" sz="quarter" idx="12"/>
          </p:nvPr>
        </p:nvSpPr>
        <p:spPr/>
        <p:txBody>
          <a:bodyPr/>
          <a:lstStyle/>
          <a:p>
            <a:fld id="{8B749449-19F6-4F62-9074-16E3A54B4410}" type="slidenum">
              <a:rPr lang="en-US" smtClean="0"/>
              <a:t>‹#›</a:t>
            </a:fld>
            <a:endParaRPr lang="en-US"/>
          </a:p>
        </p:txBody>
      </p:sp>
    </p:spTree>
    <p:extLst>
      <p:ext uri="{BB962C8B-B14F-4D97-AF65-F5344CB8AC3E}">
        <p14:creationId xmlns:p14="http://schemas.microsoft.com/office/powerpoint/2010/main" val="248354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28FFD-BDA7-FC04-2EC3-66157252F93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C9B14B-1E02-E3A8-8359-B03485568A59}"/>
              </a:ext>
            </a:extLst>
          </p:cNvPr>
          <p:cNvSpPr>
            <a:spLocks noGrp="1"/>
          </p:cNvSpPr>
          <p:nvPr>
            <p:ph type="dt" sz="half" idx="10"/>
          </p:nvPr>
        </p:nvSpPr>
        <p:spPr/>
        <p:txBody>
          <a:bodyPr/>
          <a:lstStyle/>
          <a:p>
            <a:fld id="{430C5312-37EF-49AA-8BF8-F09930C75388}" type="datetimeFigureOut">
              <a:rPr lang="en-US" smtClean="0"/>
              <a:t>11/20/2025</a:t>
            </a:fld>
            <a:endParaRPr lang="en-US"/>
          </a:p>
        </p:txBody>
      </p:sp>
      <p:sp>
        <p:nvSpPr>
          <p:cNvPr id="4" name="Footer Placeholder 3">
            <a:extLst>
              <a:ext uri="{FF2B5EF4-FFF2-40B4-BE49-F238E27FC236}">
                <a16:creationId xmlns:a16="http://schemas.microsoft.com/office/drawing/2014/main" id="{BB1882E4-3AB1-BEBA-7CA2-840349EE2A1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5492D2-37DC-B5A0-F7E7-BBF5574174B9}"/>
              </a:ext>
            </a:extLst>
          </p:cNvPr>
          <p:cNvSpPr>
            <a:spLocks noGrp="1"/>
          </p:cNvSpPr>
          <p:nvPr>
            <p:ph type="sldNum" sz="quarter" idx="12"/>
          </p:nvPr>
        </p:nvSpPr>
        <p:spPr/>
        <p:txBody>
          <a:bodyPr/>
          <a:lstStyle/>
          <a:p>
            <a:fld id="{8B749449-19F6-4F62-9074-16E3A54B4410}" type="slidenum">
              <a:rPr lang="en-US" smtClean="0"/>
              <a:t>‹#›</a:t>
            </a:fld>
            <a:endParaRPr lang="en-US"/>
          </a:p>
        </p:txBody>
      </p:sp>
    </p:spTree>
    <p:extLst>
      <p:ext uri="{BB962C8B-B14F-4D97-AF65-F5344CB8AC3E}">
        <p14:creationId xmlns:p14="http://schemas.microsoft.com/office/powerpoint/2010/main" val="3749428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43B854-02AA-2725-4033-545E13D9603A}"/>
              </a:ext>
            </a:extLst>
          </p:cNvPr>
          <p:cNvSpPr>
            <a:spLocks noGrp="1"/>
          </p:cNvSpPr>
          <p:nvPr>
            <p:ph type="dt" sz="half" idx="10"/>
          </p:nvPr>
        </p:nvSpPr>
        <p:spPr/>
        <p:txBody>
          <a:bodyPr/>
          <a:lstStyle/>
          <a:p>
            <a:fld id="{430C5312-37EF-49AA-8BF8-F09930C75388}" type="datetimeFigureOut">
              <a:rPr lang="en-US" smtClean="0"/>
              <a:t>11/20/2025</a:t>
            </a:fld>
            <a:endParaRPr lang="en-US"/>
          </a:p>
        </p:txBody>
      </p:sp>
      <p:sp>
        <p:nvSpPr>
          <p:cNvPr id="3" name="Footer Placeholder 2">
            <a:extLst>
              <a:ext uri="{FF2B5EF4-FFF2-40B4-BE49-F238E27FC236}">
                <a16:creationId xmlns:a16="http://schemas.microsoft.com/office/drawing/2014/main" id="{11E48D11-EB8C-BE96-0A89-66129B8B6BC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9FE32F-274B-DA3B-7CB2-48F84B9D80A3}"/>
              </a:ext>
            </a:extLst>
          </p:cNvPr>
          <p:cNvSpPr>
            <a:spLocks noGrp="1"/>
          </p:cNvSpPr>
          <p:nvPr>
            <p:ph type="sldNum" sz="quarter" idx="12"/>
          </p:nvPr>
        </p:nvSpPr>
        <p:spPr/>
        <p:txBody>
          <a:bodyPr/>
          <a:lstStyle/>
          <a:p>
            <a:fld id="{8B749449-19F6-4F62-9074-16E3A54B4410}" type="slidenum">
              <a:rPr lang="en-US" smtClean="0"/>
              <a:t>‹#›</a:t>
            </a:fld>
            <a:endParaRPr lang="en-US"/>
          </a:p>
        </p:txBody>
      </p:sp>
    </p:spTree>
    <p:extLst>
      <p:ext uri="{BB962C8B-B14F-4D97-AF65-F5344CB8AC3E}">
        <p14:creationId xmlns:p14="http://schemas.microsoft.com/office/powerpoint/2010/main" val="2474119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A2AC9-8DD3-430A-E0CF-D854483250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6A8C9F-55ED-B66E-5555-9A9DCC9A87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756E38E-C47F-2F4D-D624-5B72FE3D9F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C362E4-5E35-F581-7BE7-21988094D8FD}"/>
              </a:ext>
            </a:extLst>
          </p:cNvPr>
          <p:cNvSpPr>
            <a:spLocks noGrp="1"/>
          </p:cNvSpPr>
          <p:nvPr>
            <p:ph type="dt" sz="half" idx="10"/>
          </p:nvPr>
        </p:nvSpPr>
        <p:spPr/>
        <p:txBody>
          <a:bodyPr/>
          <a:lstStyle/>
          <a:p>
            <a:fld id="{430C5312-37EF-49AA-8BF8-F09930C75388}" type="datetimeFigureOut">
              <a:rPr lang="en-US" smtClean="0"/>
              <a:t>11/20/2025</a:t>
            </a:fld>
            <a:endParaRPr lang="en-US"/>
          </a:p>
        </p:txBody>
      </p:sp>
      <p:sp>
        <p:nvSpPr>
          <p:cNvPr id="6" name="Footer Placeholder 5">
            <a:extLst>
              <a:ext uri="{FF2B5EF4-FFF2-40B4-BE49-F238E27FC236}">
                <a16:creationId xmlns:a16="http://schemas.microsoft.com/office/drawing/2014/main" id="{19098224-16A1-AA83-5D32-2A6F109479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B4F7EE-BFB9-F403-97A6-5960528159CD}"/>
              </a:ext>
            </a:extLst>
          </p:cNvPr>
          <p:cNvSpPr>
            <a:spLocks noGrp="1"/>
          </p:cNvSpPr>
          <p:nvPr>
            <p:ph type="sldNum" sz="quarter" idx="12"/>
          </p:nvPr>
        </p:nvSpPr>
        <p:spPr/>
        <p:txBody>
          <a:bodyPr/>
          <a:lstStyle/>
          <a:p>
            <a:fld id="{8B749449-19F6-4F62-9074-16E3A54B4410}" type="slidenum">
              <a:rPr lang="en-US" smtClean="0"/>
              <a:t>‹#›</a:t>
            </a:fld>
            <a:endParaRPr lang="en-US"/>
          </a:p>
        </p:txBody>
      </p:sp>
    </p:spTree>
    <p:extLst>
      <p:ext uri="{BB962C8B-B14F-4D97-AF65-F5344CB8AC3E}">
        <p14:creationId xmlns:p14="http://schemas.microsoft.com/office/powerpoint/2010/main" val="2986650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01DDF-A2D6-2149-A8B7-0E7E740FD7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7EB5C2D-3CBB-6D09-B656-E460D9FD2D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CA0B0BB-5760-5C61-29A7-0D0C3E6138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7D82B-C128-AE68-470F-06CFCB28C58F}"/>
              </a:ext>
            </a:extLst>
          </p:cNvPr>
          <p:cNvSpPr>
            <a:spLocks noGrp="1"/>
          </p:cNvSpPr>
          <p:nvPr>
            <p:ph type="dt" sz="half" idx="10"/>
          </p:nvPr>
        </p:nvSpPr>
        <p:spPr/>
        <p:txBody>
          <a:bodyPr/>
          <a:lstStyle/>
          <a:p>
            <a:fld id="{430C5312-37EF-49AA-8BF8-F09930C75388}" type="datetimeFigureOut">
              <a:rPr lang="en-US" smtClean="0"/>
              <a:t>11/20/2025</a:t>
            </a:fld>
            <a:endParaRPr lang="en-US"/>
          </a:p>
        </p:txBody>
      </p:sp>
      <p:sp>
        <p:nvSpPr>
          <p:cNvPr id="6" name="Footer Placeholder 5">
            <a:extLst>
              <a:ext uri="{FF2B5EF4-FFF2-40B4-BE49-F238E27FC236}">
                <a16:creationId xmlns:a16="http://schemas.microsoft.com/office/drawing/2014/main" id="{750CC204-652C-3D82-8387-A7B1758E2C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8D13E2-278D-04CE-91EA-E17D9BAF8EFB}"/>
              </a:ext>
            </a:extLst>
          </p:cNvPr>
          <p:cNvSpPr>
            <a:spLocks noGrp="1"/>
          </p:cNvSpPr>
          <p:nvPr>
            <p:ph type="sldNum" sz="quarter" idx="12"/>
          </p:nvPr>
        </p:nvSpPr>
        <p:spPr/>
        <p:txBody>
          <a:bodyPr/>
          <a:lstStyle/>
          <a:p>
            <a:fld id="{8B749449-19F6-4F62-9074-16E3A54B4410}" type="slidenum">
              <a:rPr lang="en-US" smtClean="0"/>
              <a:t>‹#›</a:t>
            </a:fld>
            <a:endParaRPr lang="en-US"/>
          </a:p>
        </p:txBody>
      </p:sp>
    </p:spTree>
    <p:extLst>
      <p:ext uri="{BB962C8B-B14F-4D97-AF65-F5344CB8AC3E}">
        <p14:creationId xmlns:p14="http://schemas.microsoft.com/office/powerpoint/2010/main" val="32681694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239FD-C07C-DE81-D6DC-D0C826FA14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F7D03A3-45B1-92A1-55C5-E53318EAA7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CD5CAC-9C84-40E0-D83B-81D0555BF202}"/>
              </a:ext>
            </a:extLst>
          </p:cNvPr>
          <p:cNvSpPr>
            <a:spLocks noGrp="1"/>
          </p:cNvSpPr>
          <p:nvPr>
            <p:ph type="dt" sz="half" idx="10"/>
          </p:nvPr>
        </p:nvSpPr>
        <p:spPr/>
        <p:txBody>
          <a:bodyPr/>
          <a:lstStyle/>
          <a:p>
            <a:fld id="{430C5312-37EF-49AA-8BF8-F09930C75388}" type="datetimeFigureOut">
              <a:rPr lang="en-US" smtClean="0"/>
              <a:t>11/20/2025</a:t>
            </a:fld>
            <a:endParaRPr lang="en-US"/>
          </a:p>
        </p:txBody>
      </p:sp>
      <p:sp>
        <p:nvSpPr>
          <p:cNvPr id="5" name="Footer Placeholder 4">
            <a:extLst>
              <a:ext uri="{FF2B5EF4-FFF2-40B4-BE49-F238E27FC236}">
                <a16:creationId xmlns:a16="http://schemas.microsoft.com/office/drawing/2014/main" id="{0E11B2F7-349E-358B-B8DD-C8C63011B9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97DA09-1B8C-E292-E7EB-A990A7C0511B}"/>
              </a:ext>
            </a:extLst>
          </p:cNvPr>
          <p:cNvSpPr>
            <a:spLocks noGrp="1"/>
          </p:cNvSpPr>
          <p:nvPr>
            <p:ph type="sldNum" sz="quarter" idx="12"/>
          </p:nvPr>
        </p:nvSpPr>
        <p:spPr/>
        <p:txBody>
          <a:bodyPr/>
          <a:lstStyle/>
          <a:p>
            <a:fld id="{8B749449-19F6-4F62-9074-16E3A54B4410}" type="slidenum">
              <a:rPr lang="en-US" smtClean="0"/>
              <a:t>‹#›</a:t>
            </a:fld>
            <a:endParaRPr lang="en-US"/>
          </a:p>
        </p:txBody>
      </p:sp>
    </p:spTree>
    <p:extLst>
      <p:ext uri="{BB962C8B-B14F-4D97-AF65-F5344CB8AC3E}">
        <p14:creationId xmlns:p14="http://schemas.microsoft.com/office/powerpoint/2010/main" val="525088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835DCE7-D1DD-7C8E-7388-F70A3592DC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B4AFF12-7DE1-446C-91E5-B5A9E152EB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0AFA14-A5FE-4EAE-2B4D-65E1B7BCD85F}"/>
              </a:ext>
            </a:extLst>
          </p:cNvPr>
          <p:cNvSpPr>
            <a:spLocks noGrp="1"/>
          </p:cNvSpPr>
          <p:nvPr>
            <p:ph type="dt" sz="half" idx="10"/>
          </p:nvPr>
        </p:nvSpPr>
        <p:spPr/>
        <p:txBody>
          <a:bodyPr/>
          <a:lstStyle/>
          <a:p>
            <a:fld id="{430C5312-37EF-49AA-8BF8-F09930C75388}" type="datetimeFigureOut">
              <a:rPr lang="en-US" smtClean="0"/>
              <a:t>11/20/2025</a:t>
            </a:fld>
            <a:endParaRPr lang="en-US"/>
          </a:p>
        </p:txBody>
      </p:sp>
      <p:sp>
        <p:nvSpPr>
          <p:cNvPr id="5" name="Footer Placeholder 4">
            <a:extLst>
              <a:ext uri="{FF2B5EF4-FFF2-40B4-BE49-F238E27FC236}">
                <a16:creationId xmlns:a16="http://schemas.microsoft.com/office/drawing/2014/main" id="{AA637FAF-5C7A-7542-CA68-7CA8ABF150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53BAB2-DE3C-B178-3442-5878C3FD8833}"/>
              </a:ext>
            </a:extLst>
          </p:cNvPr>
          <p:cNvSpPr>
            <a:spLocks noGrp="1"/>
          </p:cNvSpPr>
          <p:nvPr>
            <p:ph type="sldNum" sz="quarter" idx="12"/>
          </p:nvPr>
        </p:nvSpPr>
        <p:spPr/>
        <p:txBody>
          <a:bodyPr/>
          <a:lstStyle/>
          <a:p>
            <a:fld id="{8B749449-19F6-4F62-9074-16E3A54B4410}" type="slidenum">
              <a:rPr lang="en-US" smtClean="0"/>
              <a:t>‹#›</a:t>
            </a:fld>
            <a:endParaRPr lang="en-US"/>
          </a:p>
        </p:txBody>
      </p:sp>
    </p:spTree>
    <p:extLst>
      <p:ext uri="{BB962C8B-B14F-4D97-AF65-F5344CB8AC3E}">
        <p14:creationId xmlns:p14="http://schemas.microsoft.com/office/powerpoint/2010/main" val="27213081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1BF3F9-8287-C913-59D9-47E3DB7354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0C23F03-FE17-0825-1521-0833B0CF48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BF8DF0-DE57-77B6-51C6-F2D382C433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0C5312-37EF-49AA-8BF8-F09930C75388}" type="datetimeFigureOut">
              <a:rPr lang="en-US" smtClean="0"/>
              <a:t>11/20/2025</a:t>
            </a:fld>
            <a:endParaRPr lang="en-US"/>
          </a:p>
        </p:txBody>
      </p:sp>
      <p:sp>
        <p:nvSpPr>
          <p:cNvPr id="5" name="Footer Placeholder 4">
            <a:extLst>
              <a:ext uri="{FF2B5EF4-FFF2-40B4-BE49-F238E27FC236}">
                <a16:creationId xmlns:a16="http://schemas.microsoft.com/office/drawing/2014/main" id="{A4A11781-F1B9-00E7-8821-F133614381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41C9D3B-9D09-11DA-B22B-033CA38F0B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749449-19F6-4F62-9074-16E3A54B4410}" type="slidenum">
              <a:rPr lang="en-US" smtClean="0"/>
              <a:t>‹#›</a:t>
            </a:fld>
            <a:endParaRPr lang="en-US"/>
          </a:p>
        </p:txBody>
      </p:sp>
    </p:spTree>
    <p:extLst>
      <p:ext uri="{BB962C8B-B14F-4D97-AF65-F5344CB8AC3E}">
        <p14:creationId xmlns:p14="http://schemas.microsoft.com/office/powerpoint/2010/main" val="5926544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79591-7705-BB33-40B0-948FFF79C37D}"/>
              </a:ext>
            </a:extLst>
          </p:cNvPr>
          <p:cNvSpPr>
            <a:spLocks noGrp="1"/>
          </p:cNvSpPr>
          <p:nvPr>
            <p:ph type="ctrTitle"/>
          </p:nvPr>
        </p:nvSpPr>
        <p:spPr/>
        <p:txBody>
          <a:bodyPr/>
          <a:lstStyle/>
          <a:p>
            <a:r>
              <a:rPr lang="en-US" b="1" dirty="0"/>
              <a:t>NLP Module – Union Budget of India Text Analysis</a:t>
            </a:r>
          </a:p>
        </p:txBody>
      </p:sp>
      <p:sp>
        <p:nvSpPr>
          <p:cNvPr id="3" name="Subtitle 2">
            <a:extLst>
              <a:ext uri="{FF2B5EF4-FFF2-40B4-BE49-F238E27FC236}">
                <a16:creationId xmlns:a16="http://schemas.microsoft.com/office/drawing/2014/main" id="{89B0B421-FFFE-2388-1603-4141A05BAA5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969460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5CD06-9BC4-0DDA-2E24-18AE55194BE8}"/>
              </a:ext>
            </a:extLst>
          </p:cNvPr>
          <p:cNvSpPr>
            <a:spLocks noGrp="1"/>
          </p:cNvSpPr>
          <p:nvPr>
            <p:ph type="title"/>
          </p:nvPr>
        </p:nvSpPr>
        <p:spPr/>
        <p:txBody>
          <a:bodyPr/>
          <a:lstStyle/>
          <a:p>
            <a:r>
              <a:rPr lang="en-US" b="1" dirty="0"/>
              <a:t>Purpose</a:t>
            </a:r>
            <a:endParaRPr lang="en-US" dirty="0"/>
          </a:p>
        </p:txBody>
      </p:sp>
      <p:sp>
        <p:nvSpPr>
          <p:cNvPr id="3" name="Content Placeholder 2">
            <a:extLst>
              <a:ext uri="{FF2B5EF4-FFF2-40B4-BE49-F238E27FC236}">
                <a16:creationId xmlns:a16="http://schemas.microsoft.com/office/drawing/2014/main" id="{2E137A1C-47A3-FA68-5F52-14506AC0EC17}"/>
              </a:ext>
            </a:extLst>
          </p:cNvPr>
          <p:cNvSpPr>
            <a:spLocks noGrp="1"/>
          </p:cNvSpPr>
          <p:nvPr>
            <p:ph idx="1"/>
          </p:nvPr>
        </p:nvSpPr>
        <p:spPr/>
        <p:txBody>
          <a:bodyPr>
            <a:normAutofit/>
          </a:bodyPr>
          <a:lstStyle/>
          <a:p>
            <a:r>
              <a:rPr lang="en-US" sz="3600" dirty="0"/>
              <a:t>The NLP module is designed to extract </a:t>
            </a:r>
            <a:r>
              <a:rPr lang="en-US" sz="3600" b="1" dirty="0"/>
              <a:t>structured and meaningful information</a:t>
            </a:r>
            <a:r>
              <a:rPr lang="en-US" sz="3600" dirty="0"/>
              <a:t> from </a:t>
            </a:r>
            <a:r>
              <a:rPr lang="en-US" sz="3600" b="1" dirty="0"/>
              <a:t>unstructured budget documents, ministerial speeches, economic surveys, and news articles</a:t>
            </a:r>
            <a:r>
              <a:rPr lang="en-US" sz="3600" dirty="0"/>
              <a:t>. </a:t>
            </a:r>
          </a:p>
          <a:p>
            <a:r>
              <a:rPr lang="en-US" sz="3600" dirty="0"/>
              <a:t>Since the Union Budget consists of large text-heavy documents, this module helps convert textual content into a machine-readable and analyzable form</a:t>
            </a:r>
          </a:p>
          <a:p>
            <a:endParaRPr lang="en-US" sz="3600" dirty="0"/>
          </a:p>
        </p:txBody>
      </p:sp>
    </p:spTree>
    <p:extLst>
      <p:ext uri="{BB962C8B-B14F-4D97-AF65-F5344CB8AC3E}">
        <p14:creationId xmlns:p14="http://schemas.microsoft.com/office/powerpoint/2010/main" val="1110954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8A4B5-4723-A815-288A-9886D9666C58}"/>
              </a:ext>
            </a:extLst>
          </p:cNvPr>
          <p:cNvSpPr>
            <a:spLocks noGrp="1"/>
          </p:cNvSpPr>
          <p:nvPr>
            <p:ph type="title"/>
          </p:nvPr>
        </p:nvSpPr>
        <p:spPr/>
        <p:txBody>
          <a:bodyPr/>
          <a:lstStyle/>
          <a:p>
            <a:r>
              <a:rPr lang="en-US" b="1" dirty="0"/>
              <a:t>Techniques Used</a:t>
            </a:r>
            <a:endParaRPr lang="en-US" dirty="0"/>
          </a:p>
        </p:txBody>
      </p:sp>
      <p:sp>
        <p:nvSpPr>
          <p:cNvPr id="3" name="Content Placeholder 2">
            <a:extLst>
              <a:ext uri="{FF2B5EF4-FFF2-40B4-BE49-F238E27FC236}">
                <a16:creationId xmlns:a16="http://schemas.microsoft.com/office/drawing/2014/main" id="{FE880FE4-28D2-3A2C-AF35-8FA4446DBBE2}"/>
              </a:ext>
            </a:extLst>
          </p:cNvPr>
          <p:cNvSpPr>
            <a:spLocks noGrp="1"/>
          </p:cNvSpPr>
          <p:nvPr>
            <p:ph idx="1"/>
          </p:nvPr>
        </p:nvSpPr>
        <p:spPr>
          <a:xfrm>
            <a:off x="838200" y="1825625"/>
            <a:ext cx="10885714" cy="4667250"/>
          </a:xfrm>
        </p:spPr>
        <p:txBody>
          <a:bodyPr>
            <a:normAutofit/>
          </a:bodyPr>
          <a:lstStyle/>
          <a:p>
            <a:r>
              <a:rPr lang="en-US" b="1" dirty="0"/>
              <a:t>Tokenization</a:t>
            </a:r>
            <a:endParaRPr lang="en-US" dirty="0"/>
          </a:p>
          <a:p>
            <a:pPr lvl="1"/>
            <a:r>
              <a:rPr lang="en-US" dirty="0"/>
              <a:t>Splits long text into sentences and words.</a:t>
            </a:r>
          </a:p>
          <a:p>
            <a:pPr lvl="1"/>
            <a:r>
              <a:rPr lang="en-US" dirty="0"/>
              <a:t>Helps in efficient parsing and downstream NLP tasks.</a:t>
            </a:r>
          </a:p>
          <a:p>
            <a:r>
              <a:rPr lang="en-US" b="1" dirty="0"/>
              <a:t>Named Entity Recognition (NER)</a:t>
            </a:r>
            <a:endParaRPr lang="en-US" dirty="0"/>
          </a:p>
          <a:p>
            <a:r>
              <a:rPr lang="en-US" dirty="0"/>
              <a:t>Automatically identifies important entities such as:</a:t>
            </a:r>
          </a:p>
          <a:p>
            <a:pPr lvl="1"/>
            <a:r>
              <a:rPr lang="en-US" b="1" dirty="0"/>
              <a:t>Ministries</a:t>
            </a:r>
            <a:r>
              <a:rPr lang="en-US" dirty="0"/>
              <a:t> (Finance, Education, Health)</a:t>
            </a:r>
          </a:p>
          <a:p>
            <a:pPr lvl="1"/>
            <a:r>
              <a:rPr lang="en-US" b="1" dirty="0"/>
              <a:t>Sectors</a:t>
            </a:r>
            <a:r>
              <a:rPr lang="en-US" dirty="0"/>
              <a:t> (Agriculture, Infrastructure, Defense)</a:t>
            </a:r>
          </a:p>
          <a:p>
            <a:pPr lvl="1"/>
            <a:r>
              <a:rPr lang="en-US" b="1" dirty="0"/>
              <a:t>Numerical values</a:t>
            </a:r>
            <a:r>
              <a:rPr lang="en-US" dirty="0"/>
              <a:t> (allocation amounts, percentages)</a:t>
            </a:r>
          </a:p>
          <a:p>
            <a:pPr lvl="1"/>
            <a:r>
              <a:rPr lang="en-US" b="1" dirty="0"/>
              <a:t>Policies/Programs</a:t>
            </a:r>
            <a:r>
              <a:rPr lang="en-US" dirty="0"/>
              <a:t> (PMAY, MSME schemes)</a:t>
            </a:r>
          </a:p>
          <a:p>
            <a:r>
              <a:rPr lang="en-US" dirty="0"/>
              <a:t>Useful for extracting budget allocations and policy references.</a:t>
            </a:r>
          </a:p>
          <a:p>
            <a:endParaRPr lang="en-US" dirty="0"/>
          </a:p>
        </p:txBody>
      </p:sp>
    </p:spTree>
    <p:extLst>
      <p:ext uri="{BB962C8B-B14F-4D97-AF65-F5344CB8AC3E}">
        <p14:creationId xmlns:p14="http://schemas.microsoft.com/office/powerpoint/2010/main" val="1921269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3F94D-5D59-D7CC-548E-9D1DFF1B8A2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F17C022-D75E-64D4-86D4-7A1D4F62FE91}"/>
              </a:ext>
            </a:extLst>
          </p:cNvPr>
          <p:cNvSpPr>
            <a:spLocks noGrp="1"/>
          </p:cNvSpPr>
          <p:nvPr>
            <p:ph idx="1"/>
          </p:nvPr>
        </p:nvSpPr>
        <p:spPr/>
        <p:txBody>
          <a:bodyPr>
            <a:normAutofit/>
          </a:bodyPr>
          <a:lstStyle/>
          <a:p>
            <a:r>
              <a:rPr lang="en-US" sz="3600" b="1" dirty="0"/>
              <a:t>Keyword Extraction</a:t>
            </a:r>
            <a:endParaRPr lang="en-US" sz="3600" dirty="0"/>
          </a:p>
          <a:p>
            <a:r>
              <a:rPr lang="en-US" sz="3600" dirty="0"/>
              <a:t>Identifies high-frequency and high-relevance terms like</a:t>
            </a:r>
            <a:br>
              <a:rPr lang="en-US" sz="3600" dirty="0"/>
            </a:br>
            <a:r>
              <a:rPr lang="en-US" sz="3600" i="1" dirty="0"/>
              <a:t>“capital expenditure,” “fiscal deficit,” “FDI,” “subsidies”</a:t>
            </a:r>
            <a:r>
              <a:rPr lang="en-US" sz="3600" dirty="0"/>
              <a:t>.</a:t>
            </a:r>
          </a:p>
          <a:p>
            <a:r>
              <a:rPr lang="en-US" sz="3600" dirty="0"/>
              <a:t>Helps highlight the focus areas of the budget.</a:t>
            </a:r>
          </a:p>
          <a:p>
            <a:endParaRPr lang="en-US" sz="3600" dirty="0"/>
          </a:p>
        </p:txBody>
      </p:sp>
    </p:spTree>
    <p:extLst>
      <p:ext uri="{BB962C8B-B14F-4D97-AF65-F5344CB8AC3E}">
        <p14:creationId xmlns:p14="http://schemas.microsoft.com/office/powerpoint/2010/main" val="4022250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41F52-7C0A-CD71-52B7-04923F8E08B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A76F12F-6CC6-3C83-AD0A-F56CDFC55497}"/>
              </a:ext>
            </a:extLst>
          </p:cNvPr>
          <p:cNvSpPr>
            <a:spLocks noGrp="1"/>
          </p:cNvSpPr>
          <p:nvPr>
            <p:ph idx="1"/>
          </p:nvPr>
        </p:nvSpPr>
        <p:spPr>
          <a:xfrm>
            <a:off x="838200" y="1825625"/>
            <a:ext cx="11353800" cy="4351338"/>
          </a:xfrm>
        </p:spPr>
        <p:txBody>
          <a:bodyPr>
            <a:normAutofit/>
          </a:bodyPr>
          <a:lstStyle/>
          <a:p>
            <a:r>
              <a:rPr lang="en-US" sz="3600" b="1" dirty="0"/>
              <a:t>Topic Modeling (LDA / NMF)</a:t>
            </a:r>
            <a:endParaRPr lang="en-US" sz="3600" dirty="0"/>
          </a:p>
          <a:p>
            <a:r>
              <a:rPr lang="en-US" sz="3600" dirty="0"/>
              <a:t>Automatically discovers major themes from the documents.</a:t>
            </a:r>
          </a:p>
          <a:p>
            <a:r>
              <a:rPr lang="en-US" sz="3600" dirty="0"/>
              <a:t>Example topics:</a:t>
            </a:r>
          </a:p>
          <a:p>
            <a:pPr lvl="1"/>
            <a:r>
              <a:rPr lang="en-US" sz="3200" b="1" dirty="0"/>
              <a:t>Infrastructure Development</a:t>
            </a:r>
            <a:endParaRPr lang="en-US" sz="3200" dirty="0"/>
          </a:p>
          <a:p>
            <a:pPr lvl="1"/>
            <a:r>
              <a:rPr lang="en-US" sz="3200" b="1" dirty="0"/>
              <a:t>Agriculture &amp; Rural Growth</a:t>
            </a:r>
            <a:endParaRPr lang="en-US" sz="3200" dirty="0"/>
          </a:p>
          <a:p>
            <a:pPr lvl="1"/>
            <a:r>
              <a:rPr lang="en-US" sz="3200" b="1" dirty="0"/>
              <a:t>Digital Economy &amp; Startups</a:t>
            </a:r>
            <a:endParaRPr lang="en-US" sz="3200" dirty="0"/>
          </a:p>
          <a:p>
            <a:pPr lvl="1"/>
            <a:r>
              <a:rPr lang="en-US" sz="3200" b="1" dirty="0"/>
              <a:t>Social Welfare &amp; Education</a:t>
            </a:r>
            <a:endParaRPr lang="en-US" sz="3200" dirty="0"/>
          </a:p>
          <a:p>
            <a:endParaRPr lang="en-US" sz="3600" dirty="0"/>
          </a:p>
        </p:txBody>
      </p:sp>
    </p:spTree>
    <p:extLst>
      <p:ext uri="{BB962C8B-B14F-4D97-AF65-F5344CB8AC3E}">
        <p14:creationId xmlns:p14="http://schemas.microsoft.com/office/powerpoint/2010/main" val="2229456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EDB62-AA97-36BC-975F-260B4B15049D}"/>
              </a:ext>
            </a:extLst>
          </p:cNvPr>
          <p:cNvSpPr>
            <a:spLocks noGrp="1"/>
          </p:cNvSpPr>
          <p:nvPr>
            <p:ph type="title"/>
          </p:nvPr>
        </p:nvSpPr>
        <p:spPr/>
        <p:txBody>
          <a:bodyPr/>
          <a:lstStyle/>
          <a:p>
            <a:r>
              <a:rPr lang="en-US" b="1" dirty="0"/>
              <a:t>Contribution to the System</a:t>
            </a:r>
            <a:endParaRPr lang="en-US" dirty="0"/>
          </a:p>
        </p:txBody>
      </p:sp>
      <p:sp>
        <p:nvSpPr>
          <p:cNvPr id="3" name="Content Placeholder 2">
            <a:extLst>
              <a:ext uri="{FF2B5EF4-FFF2-40B4-BE49-F238E27FC236}">
                <a16:creationId xmlns:a16="http://schemas.microsoft.com/office/drawing/2014/main" id="{BA2D7196-B866-D57B-944E-070401229068}"/>
              </a:ext>
            </a:extLst>
          </p:cNvPr>
          <p:cNvSpPr>
            <a:spLocks noGrp="1"/>
          </p:cNvSpPr>
          <p:nvPr>
            <p:ph idx="1"/>
          </p:nvPr>
        </p:nvSpPr>
        <p:spPr/>
        <p:txBody>
          <a:bodyPr>
            <a:normAutofit fontScale="92500"/>
          </a:bodyPr>
          <a:lstStyle/>
          <a:p>
            <a:r>
              <a:rPr lang="en-US" sz="3600" dirty="0"/>
              <a:t>✔ Converts raw text into a </a:t>
            </a:r>
            <a:r>
              <a:rPr lang="en-US" sz="3600" b="1" dirty="0"/>
              <a:t>structured dataset</a:t>
            </a:r>
            <a:br>
              <a:rPr lang="en-US" sz="3600" dirty="0"/>
            </a:br>
            <a:r>
              <a:rPr lang="en-US" sz="3600" dirty="0"/>
              <a:t>✔ Extracts </a:t>
            </a:r>
            <a:r>
              <a:rPr lang="en-US" sz="3600" b="1" dirty="0"/>
              <a:t>key policy areas</a:t>
            </a:r>
            <a:r>
              <a:rPr lang="en-US" sz="3600" dirty="0"/>
              <a:t> and </a:t>
            </a:r>
            <a:r>
              <a:rPr lang="en-US" sz="3600" b="1" dirty="0"/>
              <a:t>sector-wise allocations</a:t>
            </a:r>
            <a:br>
              <a:rPr lang="en-US" sz="3600" dirty="0"/>
            </a:br>
            <a:r>
              <a:rPr lang="en-US" sz="3600" dirty="0"/>
              <a:t>✔ Identifies </a:t>
            </a:r>
            <a:r>
              <a:rPr lang="en-US" sz="3600" b="1" dirty="0"/>
              <a:t>emerging themes</a:t>
            </a:r>
            <a:r>
              <a:rPr lang="en-US" sz="3600" dirty="0"/>
              <a:t> and </a:t>
            </a:r>
            <a:r>
              <a:rPr lang="en-US" sz="3600" b="1" dirty="0"/>
              <a:t>priority focus areas</a:t>
            </a:r>
            <a:br>
              <a:rPr lang="en-US" sz="3600" dirty="0"/>
            </a:br>
            <a:r>
              <a:rPr lang="en-US" sz="3600" dirty="0"/>
              <a:t>✔ Enables deeper insights for:</a:t>
            </a:r>
          </a:p>
          <a:p>
            <a:r>
              <a:rPr lang="en-US" sz="3600" dirty="0"/>
              <a:t>Trend analysis</a:t>
            </a:r>
          </a:p>
          <a:p>
            <a:r>
              <a:rPr lang="en-US" sz="3600" dirty="0"/>
              <a:t>Policy comparison across years</a:t>
            </a:r>
          </a:p>
          <a:p>
            <a:r>
              <a:rPr lang="en-US" sz="3600" dirty="0"/>
              <a:t>Data visualization in dashboards</a:t>
            </a:r>
          </a:p>
          <a:p>
            <a:endParaRPr lang="en-US" sz="3600" dirty="0"/>
          </a:p>
        </p:txBody>
      </p:sp>
    </p:spTree>
    <p:extLst>
      <p:ext uri="{BB962C8B-B14F-4D97-AF65-F5344CB8AC3E}">
        <p14:creationId xmlns:p14="http://schemas.microsoft.com/office/powerpoint/2010/main" val="1352392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9DECA-F971-2B39-BBAE-023E2382D383}"/>
              </a:ext>
            </a:extLst>
          </p:cNvPr>
          <p:cNvSpPr>
            <a:spLocks noGrp="1"/>
          </p:cNvSpPr>
          <p:nvPr>
            <p:ph type="title"/>
          </p:nvPr>
        </p:nvSpPr>
        <p:spPr/>
        <p:txBody>
          <a:bodyPr/>
          <a:lstStyle/>
          <a:p>
            <a:r>
              <a:rPr lang="en-US" b="1" dirty="0"/>
              <a:t>Summary  </a:t>
            </a:r>
            <a:endParaRPr lang="en-US" dirty="0"/>
          </a:p>
        </p:txBody>
      </p:sp>
      <p:sp>
        <p:nvSpPr>
          <p:cNvPr id="3" name="Content Placeholder 2">
            <a:extLst>
              <a:ext uri="{FF2B5EF4-FFF2-40B4-BE49-F238E27FC236}">
                <a16:creationId xmlns:a16="http://schemas.microsoft.com/office/drawing/2014/main" id="{D3AEAA5D-37F4-1A62-FA58-049EC1AC0D64}"/>
              </a:ext>
            </a:extLst>
          </p:cNvPr>
          <p:cNvSpPr>
            <a:spLocks noGrp="1"/>
          </p:cNvSpPr>
          <p:nvPr>
            <p:ph idx="1"/>
          </p:nvPr>
        </p:nvSpPr>
        <p:spPr/>
        <p:txBody>
          <a:bodyPr>
            <a:normAutofit/>
          </a:bodyPr>
          <a:lstStyle/>
          <a:p>
            <a:r>
              <a:rPr lang="en-US" sz="3200" dirty="0"/>
              <a:t>This NLP module processes unstructured budget texts to extract structured information using tokenization, NER, keyword extraction, and topic modeling. It identifies key sectors, policy announcements, allocations, and major themes, enabling meaningful budget insights and supporting further analysis.</a:t>
            </a:r>
          </a:p>
          <a:p>
            <a:endParaRPr lang="en-US" sz="3200" dirty="0"/>
          </a:p>
        </p:txBody>
      </p:sp>
    </p:spTree>
    <p:extLst>
      <p:ext uri="{BB962C8B-B14F-4D97-AF65-F5344CB8AC3E}">
        <p14:creationId xmlns:p14="http://schemas.microsoft.com/office/powerpoint/2010/main" val="2824901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14B6A-0170-B613-9643-8521308A1FD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4843BB4-0CA5-651D-17E0-48A1EF9E6EC1}"/>
              </a:ext>
            </a:extLst>
          </p:cNvPr>
          <p:cNvSpPr>
            <a:spLocks noGrp="1"/>
          </p:cNvSpPr>
          <p:nvPr>
            <p:ph idx="1"/>
          </p:nvPr>
        </p:nvSpPr>
        <p:spPr/>
        <p:txBody>
          <a:bodyPr>
            <a:normAutofit/>
          </a:bodyPr>
          <a:lstStyle/>
          <a:p>
            <a:pPr marL="0" indent="0">
              <a:buNone/>
            </a:pPr>
            <a:r>
              <a:rPr lang="en-US" sz="4000" dirty="0"/>
              <a:t>📄 PDF Handling</a:t>
            </a:r>
          </a:p>
          <a:p>
            <a:pPr marL="0" indent="0">
              <a:buNone/>
            </a:pPr>
            <a:r>
              <a:rPr lang="en-US" sz="4000" b="1" dirty="0" err="1"/>
              <a:t>read_pdf_text</a:t>
            </a:r>
            <a:r>
              <a:rPr lang="en-US" sz="4000" b="1" dirty="0"/>
              <a:t>(path)</a:t>
            </a:r>
            <a:br>
              <a:rPr lang="en-US" sz="4000" dirty="0"/>
            </a:br>
            <a:r>
              <a:rPr lang="en-US" sz="4000" dirty="0"/>
              <a:t>Reads a PDF file using PyPDF2, extracts text from each page, and returns the combined string.</a:t>
            </a:r>
          </a:p>
          <a:p>
            <a:pPr marL="0" indent="0">
              <a:buNone/>
            </a:pPr>
            <a:endParaRPr lang="en-US" sz="4000" dirty="0"/>
          </a:p>
        </p:txBody>
      </p:sp>
    </p:spTree>
    <p:extLst>
      <p:ext uri="{BB962C8B-B14F-4D97-AF65-F5344CB8AC3E}">
        <p14:creationId xmlns:p14="http://schemas.microsoft.com/office/powerpoint/2010/main" val="40762434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2D81D-6415-BE0A-F3CB-1A91EA055B87}"/>
              </a:ext>
            </a:extLst>
          </p:cNvPr>
          <p:cNvSpPr>
            <a:spLocks noGrp="1"/>
          </p:cNvSpPr>
          <p:nvPr>
            <p:ph type="title"/>
          </p:nvPr>
        </p:nvSpPr>
        <p:spPr/>
        <p:txBody>
          <a:bodyPr/>
          <a:lstStyle/>
          <a:p>
            <a:r>
              <a:rPr lang="en-US" dirty="0"/>
              <a:t>Information Extractors</a:t>
            </a:r>
            <a:br>
              <a:rPr lang="en-US" dirty="0"/>
            </a:br>
            <a:endParaRPr lang="en-US" dirty="0"/>
          </a:p>
        </p:txBody>
      </p:sp>
      <p:sp>
        <p:nvSpPr>
          <p:cNvPr id="3" name="Content Placeholder 2">
            <a:extLst>
              <a:ext uri="{FF2B5EF4-FFF2-40B4-BE49-F238E27FC236}">
                <a16:creationId xmlns:a16="http://schemas.microsoft.com/office/drawing/2014/main" id="{4EB655DF-A657-BE51-1FCD-9B1F846446BE}"/>
              </a:ext>
            </a:extLst>
          </p:cNvPr>
          <p:cNvSpPr>
            <a:spLocks noGrp="1"/>
          </p:cNvSpPr>
          <p:nvPr>
            <p:ph idx="1"/>
          </p:nvPr>
        </p:nvSpPr>
        <p:spPr>
          <a:xfrm>
            <a:off x="272143" y="1143000"/>
            <a:ext cx="11756571" cy="5715000"/>
          </a:xfrm>
        </p:spPr>
        <p:txBody>
          <a:bodyPr>
            <a:normAutofit/>
          </a:bodyPr>
          <a:lstStyle/>
          <a:p>
            <a:r>
              <a:rPr lang="en-US" b="1" dirty="0" err="1"/>
              <a:t>find_schemes</a:t>
            </a:r>
            <a:r>
              <a:rPr lang="en-US" b="1" dirty="0"/>
              <a:t>(sentence)</a:t>
            </a:r>
            <a:br>
              <a:rPr lang="en-US" dirty="0"/>
            </a:br>
            <a:r>
              <a:rPr lang="en-US" dirty="0"/>
              <a:t>Detects government schemes in a sentence by matching against a known list (e.g., PMAY, GST) and also heuristically finds title-cased phrases.</a:t>
            </a:r>
          </a:p>
          <a:p>
            <a:r>
              <a:rPr lang="en-US" b="1" dirty="0" err="1"/>
              <a:t>extract_amount</a:t>
            </a:r>
            <a:r>
              <a:rPr lang="en-US" b="1" dirty="0"/>
              <a:t>(sentence)</a:t>
            </a:r>
            <a:br>
              <a:rPr lang="en-US" dirty="0"/>
            </a:br>
            <a:r>
              <a:rPr lang="en-US" dirty="0"/>
              <a:t>Uses regex to identify monetary values (₹, Rs., crore, lakh, million, billion) and returns the raw text, numeric value, and unit.</a:t>
            </a:r>
          </a:p>
          <a:p>
            <a:r>
              <a:rPr lang="en-US" b="1" dirty="0" err="1"/>
              <a:t>extract_percentage</a:t>
            </a:r>
            <a:r>
              <a:rPr lang="en-US" b="1" dirty="0"/>
              <a:t>(sentence)</a:t>
            </a:r>
            <a:br>
              <a:rPr lang="en-US" dirty="0"/>
            </a:br>
            <a:r>
              <a:rPr lang="en-US" dirty="0"/>
              <a:t>Finds percentage mentions (e.g., “5%”, “10 percent”) using regex and returns the matched string.</a:t>
            </a:r>
          </a:p>
          <a:p>
            <a:r>
              <a:rPr lang="en-US" b="1" dirty="0" err="1"/>
              <a:t>extract_ministry</a:t>
            </a:r>
            <a:r>
              <a:rPr lang="en-US" b="1" dirty="0"/>
              <a:t>(sentence, </a:t>
            </a:r>
            <a:r>
              <a:rPr lang="en-US" b="1" dirty="0" err="1"/>
              <a:t>spacy_doc</a:t>
            </a:r>
            <a:r>
              <a:rPr lang="en-US" b="1" dirty="0"/>
              <a:t>=None)</a:t>
            </a:r>
            <a:br>
              <a:rPr lang="en-US" dirty="0"/>
            </a:br>
            <a:r>
              <a:rPr lang="en-US" dirty="0"/>
              <a:t>Extracts ministry names via regex or </a:t>
            </a:r>
            <a:r>
              <a:rPr lang="en-US" dirty="0" err="1"/>
              <a:t>spaCy</a:t>
            </a:r>
            <a:r>
              <a:rPr lang="en-US" dirty="0"/>
              <a:t> NER (e.g., “Ministry of Finance”), falling back to capitalized keywords if needed.</a:t>
            </a:r>
          </a:p>
          <a:p>
            <a:endParaRPr lang="en-US" dirty="0"/>
          </a:p>
        </p:txBody>
      </p:sp>
    </p:spTree>
    <p:extLst>
      <p:ext uri="{BB962C8B-B14F-4D97-AF65-F5344CB8AC3E}">
        <p14:creationId xmlns:p14="http://schemas.microsoft.com/office/powerpoint/2010/main" val="281701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AE27B-982B-40F9-A850-79FD7E8059CC}"/>
              </a:ext>
            </a:extLst>
          </p:cNvPr>
          <p:cNvSpPr>
            <a:spLocks noGrp="1"/>
          </p:cNvSpPr>
          <p:nvPr>
            <p:ph type="title"/>
          </p:nvPr>
        </p:nvSpPr>
        <p:spPr/>
        <p:txBody>
          <a:bodyPr/>
          <a:lstStyle/>
          <a:p>
            <a:r>
              <a:rPr lang="en-US" dirty="0"/>
              <a:t>🧹 Preprocessing &amp; Keywords</a:t>
            </a:r>
          </a:p>
        </p:txBody>
      </p:sp>
      <p:sp>
        <p:nvSpPr>
          <p:cNvPr id="3" name="Content Placeholder 2">
            <a:extLst>
              <a:ext uri="{FF2B5EF4-FFF2-40B4-BE49-F238E27FC236}">
                <a16:creationId xmlns:a16="http://schemas.microsoft.com/office/drawing/2014/main" id="{01DEC3CE-6594-FCA8-1BD8-5141A7FD1C68}"/>
              </a:ext>
            </a:extLst>
          </p:cNvPr>
          <p:cNvSpPr>
            <a:spLocks noGrp="1"/>
          </p:cNvSpPr>
          <p:nvPr>
            <p:ph idx="1"/>
          </p:nvPr>
        </p:nvSpPr>
        <p:spPr/>
        <p:txBody>
          <a:bodyPr>
            <a:normAutofit/>
          </a:bodyPr>
          <a:lstStyle/>
          <a:p>
            <a:r>
              <a:rPr lang="en-US" sz="3600" b="1" dirty="0" err="1"/>
              <a:t>preprocess_for_tfidf</a:t>
            </a:r>
            <a:r>
              <a:rPr lang="en-US" sz="3600" b="1" dirty="0"/>
              <a:t>(s)</a:t>
            </a:r>
            <a:br>
              <a:rPr lang="en-US" sz="3600" dirty="0"/>
            </a:br>
            <a:r>
              <a:rPr lang="en-US" sz="3600" dirty="0"/>
              <a:t>Cleans sentences by removing non-alphanumeric characters and lowercasing, preparing text for TF-IDF.</a:t>
            </a:r>
          </a:p>
          <a:p>
            <a:r>
              <a:rPr lang="en-US" sz="3600" b="1" dirty="0" err="1"/>
              <a:t>top_keywords_for_sentence</a:t>
            </a:r>
            <a:r>
              <a:rPr lang="en-US" sz="3600" b="1" dirty="0"/>
              <a:t>(</a:t>
            </a:r>
            <a:r>
              <a:rPr lang="en-US" sz="3600" b="1" dirty="0" err="1"/>
              <a:t>idx</a:t>
            </a:r>
            <a:r>
              <a:rPr lang="en-US" sz="3600" b="1" dirty="0"/>
              <a:t>, </a:t>
            </a:r>
            <a:r>
              <a:rPr lang="en-US" sz="3600" b="1" dirty="0" err="1"/>
              <a:t>topn</a:t>
            </a:r>
            <a:r>
              <a:rPr lang="en-US" sz="3600" b="1" dirty="0"/>
              <a:t>=3)</a:t>
            </a:r>
            <a:br>
              <a:rPr lang="en-US" sz="3600" dirty="0"/>
            </a:br>
            <a:r>
              <a:rPr lang="en-US" sz="3600" dirty="0"/>
              <a:t>Retrieves the top TF-IDF keywords for a given sentence index, highlighting its most important terms.</a:t>
            </a:r>
          </a:p>
          <a:p>
            <a:endParaRPr lang="en-US" sz="3600" dirty="0"/>
          </a:p>
        </p:txBody>
      </p:sp>
    </p:spTree>
    <p:extLst>
      <p:ext uri="{BB962C8B-B14F-4D97-AF65-F5344CB8AC3E}">
        <p14:creationId xmlns:p14="http://schemas.microsoft.com/office/powerpoint/2010/main" val="2125668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03A3E-7E94-5CCF-2B37-71D6319CDA51}"/>
              </a:ext>
            </a:extLst>
          </p:cNvPr>
          <p:cNvSpPr>
            <a:spLocks noGrp="1"/>
          </p:cNvSpPr>
          <p:nvPr>
            <p:ph type="title"/>
          </p:nvPr>
        </p:nvSpPr>
        <p:spPr/>
        <p:txBody>
          <a:bodyPr/>
          <a:lstStyle/>
          <a:p>
            <a:r>
              <a:rPr lang="en-US" dirty="0"/>
              <a:t>💰 Numeric Conversions</a:t>
            </a:r>
          </a:p>
        </p:txBody>
      </p:sp>
      <p:sp>
        <p:nvSpPr>
          <p:cNvPr id="3" name="Content Placeholder 2">
            <a:extLst>
              <a:ext uri="{FF2B5EF4-FFF2-40B4-BE49-F238E27FC236}">
                <a16:creationId xmlns:a16="http://schemas.microsoft.com/office/drawing/2014/main" id="{AAB9D2AE-CE15-BD3F-B354-9B46D50EA337}"/>
              </a:ext>
            </a:extLst>
          </p:cNvPr>
          <p:cNvSpPr>
            <a:spLocks noGrp="1"/>
          </p:cNvSpPr>
          <p:nvPr>
            <p:ph idx="1"/>
          </p:nvPr>
        </p:nvSpPr>
        <p:spPr/>
        <p:txBody>
          <a:bodyPr>
            <a:normAutofit/>
          </a:bodyPr>
          <a:lstStyle/>
          <a:p>
            <a:r>
              <a:rPr lang="en-US" sz="3200" b="1" dirty="0" err="1"/>
              <a:t>to_crore</a:t>
            </a:r>
            <a:r>
              <a:rPr lang="en-US" sz="3200" b="1" dirty="0"/>
              <a:t>(</a:t>
            </a:r>
            <a:r>
              <a:rPr lang="en-US" sz="3200" b="1" dirty="0" err="1"/>
              <a:t>amount_number</a:t>
            </a:r>
            <a:r>
              <a:rPr lang="en-US" sz="3200" b="1" dirty="0"/>
              <a:t>, </a:t>
            </a:r>
            <a:r>
              <a:rPr lang="en-US" sz="3200" b="1" dirty="0" err="1"/>
              <a:t>amount_unit</a:t>
            </a:r>
            <a:r>
              <a:rPr lang="en-US" sz="3200" b="1" dirty="0"/>
              <a:t>)</a:t>
            </a:r>
            <a:br>
              <a:rPr lang="en-US" sz="3200" dirty="0"/>
            </a:br>
            <a:r>
              <a:rPr lang="en-US" sz="3200" dirty="0"/>
              <a:t>Converts amounts into a standardized “crore” unit (handles lakh, million, billion) for consistent comparisons.</a:t>
            </a:r>
          </a:p>
          <a:p>
            <a:r>
              <a:rPr lang="en-US" sz="3200" b="1" dirty="0" err="1"/>
              <a:t>extract_percent</a:t>
            </a:r>
            <a:r>
              <a:rPr lang="en-US" sz="3200" b="1" dirty="0"/>
              <a:t>(x)</a:t>
            </a:r>
            <a:br>
              <a:rPr lang="en-US" sz="3200" dirty="0"/>
            </a:br>
            <a:r>
              <a:rPr lang="en-US" sz="3200" dirty="0"/>
              <a:t>Parses numeric values from percentage strings (e.g., “12.5%”) and returns them as floats</a:t>
            </a:r>
          </a:p>
          <a:p>
            <a:endParaRPr lang="en-US" sz="3200" dirty="0"/>
          </a:p>
        </p:txBody>
      </p:sp>
    </p:spTree>
    <p:extLst>
      <p:ext uri="{BB962C8B-B14F-4D97-AF65-F5344CB8AC3E}">
        <p14:creationId xmlns:p14="http://schemas.microsoft.com/office/powerpoint/2010/main" val="19103375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CC79A-E442-F45C-ADC8-33A4C871A418}"/>
              </a:ext>
            </a:extLst>
          </p:cNvPr>
          <p:cNvSpPr>
            <a:spLocks noGrp="1"/>
          </p:cNvSpPr>
          <p:nvPr>
            <p:ph type="title"/>
          </p:nvPr>
        </p:nvSpPr>
        <p:spPr/>
        <p:txBody>
          <a:bodyPr/>
          <a:lstStyle/>
          <a:p>
            <a:r>
              <a:rPr lang="en-US" dirty="0"/>
              <a:t>📊 Insights &amp; Summaries</a:t>
            </a:r>
          </a:p>
        </p:txBody>
      </p:sp>
      <p:sp>
        <p:nvSpPr>
          <p:cNvPr id="3" name="Content Placeholder 2">
            <a:extLst>
              <a:ext uri="{FF2B5EF4-FFF2-40B4-BE49-F238E27FC236}">
                <a16:creationId xmlns:a16="http://schemas.microsoft.com/office/drawing/2014/main" id="{5606F9D2-AF6C-90A6-454B-8E61F00B08F2}"/>
              </a:ext>
            </a:extLst>
          </p:cNvPr>
          <p:cNvSpPr>
            <a:spLocks noGrp="1"/>
          </p:cNvSpPr>
          <p:nvPr>
            <p:ph idx="1"/>
          </p:nvPr>
        </p:nvSpPr>
        <p:spPr/>
        <p:txBody>
          <a:bodyPr>
            <a:normAutofit/>
          </a:bodyPr>
          <a:lstStyle/>
          <a:p>
            <a:r>
              <a:rPr lang="en-US" sz="3200" b="1" dirty="0"/>
              <a:t>Aggregation logic (inside the summary block)</a:t>
            </a:r>
            <a:br>
              <a:rPr lang="en-US" sz="3200" dirty="0"/>
            </a:br>
            <a:r>
              <a:rPr lang="en-US" sz="3200" dirty="0"/>
              <a:t>Groups allocations by ministry, schemes, and percentages, then generates structured insights (largest allocations, average % changes, top keywords).</a:t>
            </a:r>
          </a:p>
          <a:p>
            <a:r>
              <a:rPr lang="en-US" sz="3200" b="1" dirty="0"/>
              <a:t>Visualization functions</a:t>
            </a:r>
            <a:br>
              <a:rPr lang="en-US" sz="3200" dirty="0"/>
            </a:br>
            <a:r>
              <a:rPr lang="en-US" sz="3200" dirty="0"/>
              <a:t>Create word clouds, bar charts, pie charts, and trend plots to show keyword themes, scheme allocations, and percentage distributions.</a:t>
            </a:r>
          </a:p>
          <a:p>
            <a:endParaRPr lang="en-US" sz="3200" dirty="0"/>
          </a:p>
        </p:txBody>
      </p:sp>
    </p:spTree>
    <p:extLst>
      <p:ext uri="{BB962C8B-B14F-4D97-AF65-F5344CB8AC3E}">
        <p14:creationId xmlns:p14="http://schemas.microsoft.com/office/powerpoint/2010/main" val="1536510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B5A84-A821-E535-7AD3-DCBCF55AEB20}"/>
              </a:ext>
            </a:extLst>
          </p:cNvPr>
          <p:cNvSpPr>
            <a:spLocks noGrp="1"/>
          </p:cNvSpPr>
          <p:nvPr>
            <p:ph type="title"/>
          </p:nvPr>
        </p:nvSpPr>
        <p:spPr/>
        <p:txBody>
          <a:bodyPr>
            <a:normAutofit/>
          </a:bodyPr>
          <a:lstStyle/>
          <a:p>
            <a:r>
              <a:rPr lang="en-IN" dirty="0"/>
              <a:t>INSIGHTS &amp; SUMMARY</a:t>
            </a:r>
            <a:endParaRPr lang="en-US" dirty="0"/>
          </a:p>
        </p:txBody>
      </p:sp>
      <p:sp>
        <p:nvSpPr>
          <p:cNvPr id="3" name="Content Placeholder 2">
            <a:extLst>
              <a:ext uri="{FF2B5EF4-FFF2-40B4-BE49-F238E27FC236}">
                <a16:creationId xmlns:a16="http://schemas.microsoft.com/office/drawing/2014/main" id="{8379EAB7-EFE5-E9DC-D256-CA1E9E8D5B3D}"/>
              </a:ext>
            </a:extLst>
          </p:cNvPr>
          <p:cNvSpPr>
            <a:spLocks noGrp="1"/>
          </p:cNvSpPr>
          <p:nvPr>
            <p:ph idx="1"/>
          </p:nvPr>
        </p:nvSpPr>
        <p:spPr>
          <a:xfrm>
            <a:off x="674914" y="1825625"/>
            <a:ext cx="11299372" cy="4351338"/>
          </a:xfrm>
        </p:spPr>
        <p:txBody>
          <a:bodyPr>
            <a:normAutofit/>
          </a:bodyPr>
          <a:lstStyle/>
          <a:p>
            <a:pPr marL="0" indent="0">
              <a:buNone/>
            </a:pPr>
            <a:r>
              <a:rPr lang="en-IN" sz="3200" dirty="0"/>
              <a:t> 🔵 Ministry-wise Allocation Highlights</a:t>
            </a:r>
          </a:p>
          <a:p>
            <a:pPr marL="0" indent="0">
              <a:buNone/>
            </a:pPr>
            <a:r>
              <a:rPr lang="en-IN" sz="3200" dirty="0"/>
              <a:t>• Uncategorized receives the highest allocation at ₹ 826.32 crore.</a:t>
            </a:r>
          </a:p>
          <a:p>
            <a:pPr marL="0" indent="0">
              <a:buNone/>
            </a:pPr>
            <a:r>
              <a:rPr lang="en-IN" sz="3200" dirty="0"/>
              <a:t>• Next major allocation goes to Agriculture, receiving ₹ 0.00 crore.</a:t>
            </a:r>
          </a:p>
          <a:p>
            <a:pPr marL="0" indent="0">
              <a:buNone/>
            </a:pPr>
            <a:r>
              <a:rPr lang="en-IN" sz="3200" dirty="0"/>
              <a:t>• Total budget captured in the document amounts to ₹ 826.32 crore.</a:t>
            </a:r>
          </a:p>
          <a:p>
            <a:pPr marL="0" indent="0">
              <a:buNone/>
            </a:pPr>
            <a:endParaRPr lang="en-US" sz="3200" dirty="0"/>
          </a:p>
        </p:txBody>
      </p:sp>
    </p:spTree>
    <p:extLst>
      <p:ext uri="{BB962C8B-B14F-4D97-AF65-F5344CB8AC3E}">
        <p14:creationId xmlns:p14="http://schemas.microsoft.com/office/powerpoint/2010/main" val="1079578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05A33-D647-DC94-3DD3-205E91792581}"/>
              </a:ext>
            </a:extLst>
          </p:cNvPr>
          <p:cNvSpPr>
            <a:spLocks noGrp="1"/>
          </p:cNvSpPr>
          <p:nvPr>
            <p:ph type="title"/>
          </p:nvPr>
        </p:nvSpPr>
        <p:spPr/>
        <p:txBody>
          <a:bodyPr/>
          <a:lstStyle/>
          <a:p>
            <a:r>
              <a:rPr lang="en-IN" dirty="0"/>
              <a:t> 🟢 Key Schemes Identified and Funding</a:t>
            </a:r>
            <a:endParaRPr lang="en-US" dirty="0"/>
          </a:p>
        </p:txBody>
      </p:sp>
      <p:sp>
        <p:nvSpPr>
          <p:cNvPr id="3" name="Content Placeholder 2">
            <a:extLst>
              <a:ext uri="{FF2B5EF4-FFF2-40B4-BE49-F238E27FC236}">
                <a16:creationId xmlns:a16="http://schemas.microsoft.com/office/drawing/2014/main" id="{26817715-45F0-68B0-0165-81A33F2D7A5C}"/>
              </a:ext>
            </a:extLst>
          </p:cNvPr>
          <p:cNvSpPr>
            <a:spLocks noGrp="1"/>
          </p:cNvSpPr>
          <p:nvPr>
            <p:ph idx="1"/>
          </p:nvPr>
        </p:nvSpPr>
        <p:spPr>
          <a:xfrm>
            <a:off x="838199" y="1825625"/>
            <a:ext cx="11168743" cy="4858204"/>
          </a:xfrm>
        </p:spPr>
        <p:txBody>
          <a:bodyPr>
            <a:normAutofit/>
          </a:bodyPr>
          <a:lstStyle/>
          <a:p>
            <a:pPr marL="0" indent="0">
              <a:buNone/>
            </a:pPr>
            <a:r>
              <a:rPr lang="en-IN" dirty="0"/>
              <a:t>• Now; Centre; Excellence; Artificial Intelligence receives approximately ₹ 500.00 crore.</a:t>
            </a:r>
          </a:p>
          <a:p>
            <a:pPr marL="0" indent="0">
              <a:buNone/>
            </a:pPr>
            <a:r>
              <a:rPr lang="en-IN" dirty="0"/>
              <a:t>• Knitted Fabrics; Electronics; Interactive Flat Panel Display receives approximately ₹ 115.00 crore.</a:t>
            </a:r>
          </a:p>
          <a:p>
            <a:pPr marL="0" indent="0">
              <a:buNone/>
            </a:pPr>
            <a:r>
              <a:rPr lang="en-IN" dirty="0"/>
              <a:t>• Social Security Scheme; Welfare; Online Platform Workers receives approximately ₹ 51.00 crore.</a:t>
            </a:r>
          </a:p>
          <a:p>
            <a:pPr marL="0" indent="0">
              <a:buNone/>
            </a:pPr>
            <a:r>
              <a:rPr lang="en-IN" dirty="0"/>
              <a:t>• Focus Product Scheme; Footwear; Leather Sectors receives approximately ₹ 34.00 crore.</a:t>
            </a:r>
          </a:p>
          <a:p>
            <a:pPr marL="0" indent="0">
              <a:buNone/>
            </a:pPr>
            <a:r>
              <a:rPr lang="en-IN" dirty="0"/>
              <a:t>• Measures; Labour; Intensive Sectors receives approximately ₹ 33.00 crore.</a:t>
            </a:r>
          </a:p>
          <a:p>
            <a:pPr marL="0" indent="0">
              <a:buNone/>
            </a:pPr>
            <a:endParaRPr lang="en-US" dirty="0"/>
          </a:p>
        </p:txBody>
      </p:sp>
    </p:spTree>
    <p:extLst>
      <p:ext uri="{BB962C8B-B14F-4D97-AF65-F5344CB8AC3E}">
        <p14:creationId xmlns:p14="http://schemas.microsoft.com/office/powerpoint/2010/main" val="32457544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E61E2-01C7-4CBA-8B9F-B1A9AA76453E}"/>
              </a:ext>
            </a:extLst>
          </p:cNvPr>
          <p:cNvSpPr>
            <a:spLocks noGrp="1"/>
          </p:cNvSpPr>
          <p:nvPr>
            <p:ph type="title"/>
          </p:nvPr>
        </p:nvSpPr>
        <p:spPr/>
        <p:txBody>
          <a:bodyPr/>
          <a:lstStyle/>
          <a:p>
            <a:r>
              <a:rPr lang="en-IN" dirty="0"/>
              <a:t> 🟣 Growth Trends</a:t>
            </a:r>
            <a:endParaRPr lang="en-US" dirty="0"/>
          </a:p>
        </p:txBody>
      </p:sp>
      <p:sp>
        <p:nvSpPr>
          <p:cNvPr id="3" name="Content Placeholder 2">
            <a:extLst>
              <a:ext uri="{FF2B5EF4-FFF2-40B4-BE49-F238E27FC236}">
                <a16:creationId xmlns:a16="http://schemas.microsoft.com/office/drawing/2014/main" id="{21D37C84-591A-2BA2-D785-EEC39D3B69D6}"/>
              </a:ext>
            </a:extLst>
          </p:cNvPr>
          <p:cNvSpPr>
            <a:spLocks noGrp="1"/>
          </p:cNvSpPr>
          <p:nvPr>
            <p:ph idx="1"/>
          </p:nvPr>
        </p:nvSpPr>
        <p:spPr/>
        <p:txBody>
          <a:bodyPr>
            <a:normAutofit/>
          </a:bodyPr>
          <a:lstStyle/>
          <a:p>
            <a:pPr marL="0" indent="0">
              <a:buNone/>
            </a:pPr>
            <a:r>
              <a:rPr lang="en-IN" sz="3600" dirty="0"/>
              <a:t>• Average percentage change mentioned in the budget is 23.40%.</a:t>
            </a:r>
          </a:p>
          <a:p>
            <a:pPr marL="0" indent="0">
              <a:buNone/>
            </a:pPr>
            <a:r>
              <a:rPr lang="en-IN" sz="3600" dirty="0"/>
              <a:t>• Maximum observed change in the document is 100.00%.</a:t>
            </a:r>
          </a:p>
          <a:p>
            <a:pPr marL="0" indent="0">
              <a:buNone/>
            </a:pPr>
            <a:endParaRPr lang="en-US" sz="3600" dirty="0"/>
          </a:p>
        </p:txBody>
      </p:sp>
    </p:spTree>
    <p:extLst>
      <p:ext uri="{BB962C8B-B14F-4D97-AF65-F5344CB8AC3E}">
        <p14:creationId xmlns:p14="http://schemas.microsoft.com/office/powerpoint/2010/main" val="3662906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43B0D-E313-A5F0-7C99-070D4036D579}"/>
              </a:ext>
            </a:extLst>
          </p:cNvPr>
          <p:cNvSpPr>
            <a:spLocks noGrp="1"/>
          </p:cNvSpPr>
          <p:nvPr>
            <p:ph type="title"/>
          </p:nvPr>
        </p:nvSpPr>
        <p:spPr/>
        <p:txBody>
          <a:bodyPr/>
          <a:lstStyle/>
          <a:p>
            <a:r>
              <a:rPr lang="en-IN" dirty="0"/>
              <a:t> 🟠 Policy Focus Areas (from keywords)</a:t>
            </a:r>
            <a:endParaRPr lang="en-US" dirty="0"/>
          </a:p>
        </p:txBody>
      </p:sp>
      <p:sp>
        <p:nvSpPr>
          <p:cNvPr id="3" name="Content Placeholder 2">
            <a:extLst>
              <a:ext uri="{FF2B5EF4-FFF2-40B4-BE49-F238E27FC236}">
                <a16:creationId xmlns:a16="http://schemas.microsoft.com/office/drawing/2014/main" id="{F66CD740-F14B-CA94-F985-A077A4293897}"/>
              </a:ext>
            </a:extLst>
          </p:cNvPr>
          <p:cNvSpPr>
            <a:spLocks noGrp="1"/>
          </p:cNvSpPr>
          <p:nvPr>
            <p:ph idx="1"/>
          </p:nvPr>
        </p:nvSpPr>
        <p:spPr/>
        <p:txBody>
          <a:bodyPr>
            <a:normAutofit/>
          </a:bodyPr>
          <a:lstStyle/>
          <a:p>
            <a:pPr marL="0" indent="0">
              <a:buNone/>
            </a:pPr>
            <a:r>
              <a:rPr lang="en-IN" sz="3600" dirty="0"/>
              <a:t>• The budget focuses on themes such as: tax, section;, tariff, 000;, 000, section, 10, 20, tax;, 25.</a:t>
            </a:r>
          </a:p>
          <a:p>
            <a:pPr marL="0" indent="0">
              <a:buNone/>
            </a:pPr>
            <a:endParaRPr lang="en-US" sz="3600" dirty="0"/>
          </a:p>
        </p:txBody>
      </p:sp>
    </p:spTree>
    <p:extLst>
      <p:ext uri="{BB962C8B-B14F-4D97-AF65-F5344CB8AC3E}">
        <p14:creationId xmlns:p14="http://schemas.microsoft.com/office/powerpoint/2010/main" val="31371880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663C4-6F24-0311-4B7E-C88D10204BEA}"/>
              </a:ext>
            </a:extLst>
          </p:cNvPr>
          <p:cNvSpPr>
            <a:spLocks noGrp="1"/>
          </p:cNvSpPr>
          <p:nvPr>
            <p:ph type="title"/>
          </p:nvPr>
        </p:nvSpPr>
        <p:spPr/>
        <p:txBody>
          <a:bodyPr/>
          <a:lstStyle/>
          <a:p>
            <a:r>
              <a:rPr lang="en-IN" dirty="0"/>
              <a:t> 🔮 Expected Impact &amp; Predictions</a:t>
            </a:r>
            <a:endParaRPr lang="en-US" dirty="0"/>
          </a:p>
        </p:txBody>
      </p:sp>
      <p:sp>
        <p:nvSpPr>
          <p:cNvPr id="3" name="Content Placeholder 2">
            <a:extLst>
              <a:ext uri="{FF2B5EF4-FFF2-40B4-BE49-F238E27FC236}">
                <a16:creationId xmlns:a16="http://schemas.microsoft.com/office/drawing/2014/main" id="{4F59612C-A5F7-6F52-B183-97FF405F4DB6}"/>
              </a:ext>
            </a:extLst>
          </p:cNvPr>
          <p:cNvSpPr>
            <a:spLocks noGrp="1"/>
          </p:cNvSpPr>
          <p:nvPr>
            <p:ph idx="1"/>
          </p:nvPr>
        </p:nvSpPr>
        <p:spPr>
          <a:xfrm>
            <a:off x="838200" y="1825624"/>
            <a:ext cx="10972800" cy="4869089"/>
          </a:xfrm>
        </p:spPr>
        <p:txBody>
          <a:bodyPr>
            <a:normAutofit/>
          </a:bodyPr>
          <a:lstStyle/>
          <a:p>
            <a:pPr marL="0" indent="0">
              <a:buNone/>
            </a:pPr>
            <a:r>
              <a:rPr lang="en-IN" sz="3200" dirty="0"/>
              <a:t>• The highest-funded ministry is expected to see accelerated development and new projects.</a:t>
            </a:r>
          </a:p>
          <a:p>
            <a:pPr marL="0" indent="0">
              <a:buNone/>
            </a:pPr>
            <a:r>
              <a:rPr lang="en-IN" sz="3200" dirty="0"/>
              <a:t>• Heavily funded schemes will likely drive policy priority and resource allocation for this year.</a:t>
            </a:r>
          </a:p>
          <a:p>
            <a:pPr marL="0" indent="0">
              <a:buNone/>
            </a:pPr>
            <a:r>
              <a:rPr lang="en-IN" sz="3200" dirty="0"/>
              <a:t>• Positive percentage changes indicate expansionary spending in key sectors.</a:t>
            </a:r>
          </a:p>
          <a:p>
            <a:pPr marL="0" indent="0">
              <a:buNone/>
            </a:pPr>
            <a:r>
              <a:rPr lang="en-IN" sz="3200" dirty="0"/>
              <a:t>• Infrastructure sectors mentioned frequently may experience growth in employment and investment.</a:t>
            </a:r>
          </a:p>
          <a:p>
            <a:pPr marL="0" indent="0">
              <a:buNone/>
            </a:pPr>
            <a:endParaRPr lang="en-US" sz="3200" dirty="0"/>
          </a:p>
        </p:txBody>
      </p:sp>
    </p:spTree>
    <p:extLst>
      <p:ext uri="{BB962C8B-B14F-4D97-AF65-F5344CB8AC3E}">
        <p14:creationId xmlns:p14="http://schemas.microsoft.com/office/powerpoint/2010/main" val="32312103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6D37-4080-90E2-2D6F-421A754CDD1A}"/>
              </a:ext>
            </a:extLst>
          </p:cNvPr>
          <p:cNvSpPr>
            <a:spLocks noGrp="1"/>
          </p:cNvSpPr>
          <p:nvPr>
            <p:ph type="title"/>
          </p:nvPr>
        </p:nvSpPr>
        <p:spPr/>
        <p:txBody>
          <a:bodyPr/>
          <a:lstStyle/>
          <a:p>
            <a:r>
              <a:rPr lang="en-IN" dirty="0"/>
              <a:t> ✅ Overall Summary</a:t>
            </a:r>
            <a:endParaRPr lang="en-US" dirty="0"/>
          </a:p>
        </p:txBody>
      </p:sp>
      <p:sp>
        <p:nvSpPr>
          <p:cNvPr id="3" name="Content Placeholder 2">
            <a:extLst>
              <a:ext uri="{FF2B5EF4-FFF2-40B4-BE49-F238E27FC236}">
                <a16:creationId xmlns:a16="http://schemas.microsoft.com/office/drawing/2014/main" id="{C54E394A-ED88-115B-234C-81E48446E138}"/>
              </a:ext>
            </a:extLst>
          </p:cNvPr>
          <p:cNvSpPr>
            <a:spLocks noGrp="1"/>
          </p:cNvSpPr>
          <p:nvPr>
            <p:ph idx="1"/>
          </p:nvPr>
        </p:nvSpPr>
        <p:spPr/>
        <p:txBody>
          <a:bodyPr>
            <a:normAutofit/>
          </a:bodyPr>
          <a:lstStyle/>
          <a:p>
            <a:r>
              <a:rPr lang="en-IN" sz="3200" dirty="0"/>
              <a:t>The Union Budget places focus on infrastructure, sectoral development, growth-oriented policies, and schemes aimed at rural and social welfare. </a:t>
            </a:r>
          </a:p>
          <a:p>
            <a:r>
              <a:rPr lang="en-IN" sz="3200" dirty="0"/>
              <a:t>Ministries receiving the highest allocations are expected to lead major reforms and expansion initiatives during the fiscal year.</a:t>
            </a:r>
          </a:p>
          <a:p>
            <a:endParaRPr lang="en-US" sz="3200" dirty="0"/>
          </a:p>
        </p:txBody>
      </p:sp>
    </p:spTree>
    <p:extLst>
      <p:ext uri="{BB962C8B-B14F-4D97-AF65-F5344CB8AC3E}">
        <p14:creationId xmlns:p14="http://schemas.microsoft.com/office/powerpoint/2010/main" val="39988685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951</Words>
  <Application>Microsoft Office PowerPoint</Application>
  <PresentationFormat>Widescreen</PresentationFormat>
  <Paragraphs>72</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NLP Module – Union Budget of India Text Analysis</vt:lpstr>
      <vt:lpstr>Purpose</vt:lpstr>
      <vt:lpstr>Techniques Used</vt:lpstr>
      <vt:lpstr>PowerPoint Presentation</vt:lpstr>
      <vt:lpstr>PowerPoint Presentation</vt:lpstr>
      <vt:lpstr>Contribution to the System</vt:lpstr>
      <vt:lpstr>Summary  </vt:lpstr>
      <vt:lpstr>PowerPoint Presentation</vt:lpstr>
      <vt:lpstr>Information Extractors </vt:lpstr>
      <vt:lpstr>🧹 Preprocessing &amp; Keywords</vt:lpstr>
      <vt:lpstr>💰 Numeric Conversions</vt:lpstr>
      <vt:lpstr>📊 Insights &amp; Summaries</vt:lpstr>
      <vt:lpstr>INSIGHTS &amp; SUMMARY</vt:lpstr>
      <vt:lpstr> 🟢 Key Schemes Identified and Funding</vt:lpstr>
      <vt:lpstr> 🟣 Growth Trends</vt:lpstr>
      <vt:lpstr> 🟠 Policy Focus Areas (from keywords)</vt:lpstr>
      <vt:lpstr> 🔮 Expected Impact &amp; Predictions</vt:lpstr>
      <vt:lpstr> ✅ Overall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Almas Shaikh</dc:creator>
  <cp:lastModifiedBy>Almas Shaikh</cp:lastModifiedBy>
  <cp:revision>6</cp:revision>
  <dcterms:created xsi:type="dcterms:W3CDTF">2025-11-14T15:17:09Z</dcterms:created>
  <dcterms:modified xsi:type="dcterms:W3CDTF">2025-11-20T17:32:18Z</dcterms:modified>
</cp:coreProperties>
</file>