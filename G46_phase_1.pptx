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63" r:id="rId2"/>
    <p:sldId id="264" r:id="rId3"/>
    <p:sldId id="277" r:id="rId4"/>
    <p:sldId id="269" r:id="rId5"/>
    <p:sldId id="268" r:id="rId6"/>
    <p:sldId id="270" r:id="rId7"/>
    <p:sldId id="285" r:id="rId8"/>
    <p:sldId id="279" r:id="rId9"/>
    <p:sldId id="281" r:id="rId10"/>
    <p:sldId id="280" r:id="rId11"/>
    <p:sldId id="283" r:id="rId12"/>
    <p:sldId id="273" r:id="rId13"/>
    <p:sldId id="286" r:id="rId14"/>
    <p:sldId id="287" r:id="rId15"/>
    <p:sldId id="288" r:id="rId16"/>
    <p:sldId id="272" r:id="rId17"/>
    <p:sldId id="276"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04" autoAdjust="0"/>
  </p:normalViewPr>
  <p:slideViewPr>
    <p:cSldViewPr snapToGrid="0">
      <p:cViewPr varScale="1">
        <p:scale>
          <a:sx n="78" d="100"/>
          <a:sy n="78" d="100"/>
        </p:scale>
        <p:origin x="850" y="6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6C2A2-1A7F-412B-828D-1ADB7019DFCC}" type="datetimeFigureOut">
              <a:rPr lang="en-IN" smtClean="0"/>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96A5D3-DE9C-4692-95DE-B7B987032D67}" type="slidenum">
              <a:rPr lang="en-IN" smtClean="0"/>
              <a:t>‹#›</a:t>
            </a:fld>
            <a:endParaRPr lang="en-IN"/>
          </a:p>
        </p:txBody>
      </p:sp>
    </p:spTree>
    <p:extLst>
      <p:ext uri="{BB962C8B-B14F-4D97-AF65-F5344CB8AC3E}">
        <p14:creationId xmlns:p14="http://schemas.microsoft.com/office/powerpoint/2010/main" val="3393406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38074-3A14-421C-B889-466018D63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943D8E-4C1F-4A31-91DB-6C814295C9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3E9F2C-0A98-4711-AF26-9759D916611B}"/>
              </a:ext>
            </a:extLst>
          </p:cNvPr>
          <p:cNvSpPr>
            <a:spLocks noGrp="1"/>
          </p:cNvSpPr>
          <p:nvPr>
            <p:ph type="dt" sz="half" idx="10"/>
          </p:nvPr>
        </p:nvSpPr>
        <p:spPr/>
        <p:txBody>
          <a:bodyPr/>
          <a:lstStyle/>
          <a:p>
            <a:fld id="{18FA7841-A83E-45FB-915E-C2B2A854DEE8}" type="datetime1">
              <a:rPr lang="en-IN" smtClean="0"/>
              <a:t>05-12-2025</a:t>
            </a:fld>
            <a:endParaRPr lang="en-IN"/>
          </a:p>
        </p:txBody>
      </p:sp>
      <p:sp>
        <p:nvSpPr>
          <p:cNvPr id="5" name="Footer Placeholder 4">
            <a:extLst>
              <a:ext uri="{FF2B5EF4-FFF2-40B4-BE49-F238E27FC236}">
                <a16:creationId xmlns:a16="http://schemas.microsoft.com/office/drawing/2014/main" id="{FC0A9973-9CBD-4F26-B0BB-76F34D3F53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D3948-470C-4E2C-91DE-3D908B042015}"/>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335079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428F0-C682-4B6E-BBF2-4F5867C46E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E2AB99-6D52-430F-9616-289FA477183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B81C7E-BAED-46BD-BFC8-B4098E4C6138}"/>
              </a:ext>
            </a:extLst>
          </p:cNvPr>
          <p:cNvSpPr>
            <a:spLocks noGrp="1"/>
          </p:cNvSpPr>
          <p:nvPr>
            <p:ph type="dt" sz="half" idx="10"/>
          </p:nvPr>
        </p:nvSpPr>
        <p:spPr/>
        <p:txBody>
          <a:bodyPr/>
          <a:lstStyle/>
          <a:p>
            <a:fld id="{459A3271-DA9E-4D93-BB2F-D658BA3E8C21}" type="datetime1">
              <a:rPr lang="en-IN" smtClean="0"/>
              <a:t>05-12-2025</a:t>
            </a:fld>
            <a:endParaRPr lang="en-IN"/>
          </a:p>
        </p:txBody>
      </p:sp>
      <p:sp>
        <p:nvSpPr>
          <p:cNvPr id="5" name="Footer Placeholder 4">
            <a:extLst>
              <a:ext uri="{FF2B5EF4-FFF2-40B4-BE49-F238E27FC236}">
                <a16:creationId xmlns:a16="http://schemas.microsoft.com/office/drawing/2014/main" id="{D2A3F52B-9E78-4116-8085-D3E6D4F930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091A-0EDF-4C22-9DBB-8D16EE2B1611}"/>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056599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D11C-B524-4537-8838-6A4066675F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95357E-3A1C-4F58-BC1B-86FAC66D60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67596AC-2C41-4091-B9E0-C0E55539D7A6}"/>
              </a:ext>
            </a:extLst>
          </p:cNvPr>
          <p:cNvSpPr>
            <a:spLocks noGrp="1"/>
          </p:cNvSpPr>
          <p:nvPr>
            <p:ph type="dt" sz="half" idx="10"/>
          </p:nvPr>
        </p:nvSpPr>
        <p:spPr/>
        <p:txBody>
          <a:bodyPr/>
          <a:lstStyle/>
          <a:p>
            <a:fld id="{C4BE1F28-618E-4D99-A8A4-02C3F502EB1B}" type="datetime1">
              <a:rPr lang="en-IN" smtClean="0"/>
              <a:t>05-12-2025</a:t>
            </a:fld>
            <a:endParaRPr lang="en-IN"/>
          </a:p>
        </p:txBody>
      </p:sp>
      <p:sp>
        <p:nvSpPr>
          <p:cNvPr id="5" name="Footer Placeholder 4">
            <a:extLst>
              <a:ext uri="{FF2B5EF4-FFF2-40B4-BE49-F238E27FC236}">
                <a16:creationId xmlns:a16="http://schemas.microsoft.com/office/drawing/2014/main" id="{137F487C-8701-4D02-8E22-757B8A513F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34AC5C-586A-49E4-A861-14B64C08AF5B}"/>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4101586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1277-C03A-4085-BD6D-D2E804B724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DEF5DA-B66B-4DA1-86C1-4C84C4471A0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038C22-4913-4C69-A9F8-0FDF153A1BF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49A3FF-AE5D-4CC6-A8D0-B953F4C68934}"/>
              </a:ext>
            </a:extLst>
          </p:cNvPr>
          <p:cNvSpPr>
            <a:spLocks noGrp="1"/>
          </p:cNvSpPr>
          <p:nvPr>
            <p:ph type="dt" sz="half" idx="10"/>
          </p:nvPr>
        </p:nvSpPr>
        <p:spPr/>
        <p:txBody>
          <a:bodyPr/>
          <a:lstStyle/>
          <a:p>
            <a:fld id="{CA6F779E-664A-4413-9414-AE00A2B74053}" type="datetime1">
              <a:rPr lang="en-IN" smtClean="0"/>
              <a:t>05-12-2025</a:t>
            </a:fld>
            <a:endParaRPr lang="en-IN"/>
          </a:p>
        </p:txBody>
      </p:sp>
      <p:sp>
        <p:nvSpPr>
          <p:cNvPr id="6" name="Footer Placeholder 5">
            <a:extLst>
              <a:ext uri="{FF2B5EF4-FFF2-40B4-BE49-F238E27FC236}">
                <a16:creationId xmlns:a16="http://schemas.microsoft.com/office/drawing/2014/main" id="{523CF6D0-953D-4AA0-9497-044E0C817C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3F4B69-4C18-4261-9D5B-4308A48D9DA6}"/>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937663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6B83-4E64-40EF-A730-6591CA7ECE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C0091D-CACE-4AF2-ABE5-24F75E53C6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703B4C3-DF12-4A3C-AAA9-B9D1A8E6447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E76640-6E12-4DE7-B759-B9BC8B1CC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EA4D483-5142-4647-A7C4-9F4A2437F8D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7D09D9-3945-48E8-8A3B-4D66FA559F62}"/>
              </a:ext>
            </a:extLst>
          </p:cNvPr>
          <p:cNvSpPr>
            <a:spLocks noGrp="1"/>
          </p:cNvSpPr>
          <p:nvPr>
            <p:ph type="dt" sz="half" idx="10"/>
          </p:nvPr>
        </p:nvSpPr>
        <p:spPr/>
        <p:txBody>
          <a:bodyPr/>
          <a:lstStyle/>
          <a:p>
            <a:fld id="{BD1CDF21-75A4-486A-8453-0A0A9D6CD23E}" type="datetime1">
              <a:rPr lang="en-IN" smtClean="0"/>
              <a:t>05-12-2025</a:t>
            </a:fld>
            <a:endParaRPr lang="en-IN"/>
          </a:p>
        </p:txBody>
      </p:sp>
      <p:sp>
        <p:nvSpPr>
          <p:cNvPr id="8" name="Footer Placeholder 7">
            <a:extLst>
              <a:ext uri="{FF2B5EF4-FFF2-40B4-BE49-F238E27FC236}">
                <a16:creationId xmlns:a16="http://schemas.microsoft.com/office/drawing/2014/main" id="{43D97774-1746-4782-BDEE-ECE2C5CDF0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712431-3E4B-4D75-AD83-21B1CE993642}"/>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3562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6BF7-FDF2-4A09-94E9-E569558D34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600397-7AFD-4A97-957B-E4889AE6E0A6}"/>
              </a:ext>
            </a:extLst>
          </p:cNvPr>
          <p:cNvSpPr>
            <a:spLocks noGrp="1"/>
          </p:cNvSpPr>
          <p:nvPr>
            <p:ph type="dt" sz="half" idx="10"/>
          </p:nvPr>
        </p:nvSpPr>
        <p:spPr/>
        <p:txBody>
          <a:bodyPr/>
          <a:lstStyle/>
          <a:p>
            <a:fld id="{EE028FF9-5943-4F13-954E-3594357B1229}" type="datetime1">
              <a:rPr lang="en-IN" smtClean="0"/>
              <a:t>05-12-2025</a:t>
            </a:fld>
            <a:endParaRPr lang="en-IN"/>
          </a:p>
        </p:txBody>
      </p:sp>
      <p:sp>
        <p:nvSpPr>
          <p:cNvPr id="4" name="Footer Placeholder 3">
            <a:extLst>
              <a:ext uri="{FF2B5EF4-FFF2-40B4-BE49-F238E27FC236}">
                <a16:creationId xmlns:a16="http://schemas.microsoft.com/office/drawing/2014/main" id="{858E1263-0080-4FBD-8E93-07551D703B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91DA27-A100-4DDE-A2DE-05D8C6C07D20}"/>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516074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FC466-1027-4D29-8D88-9EA1823BCCA8}"/>
              </a:ext>
            </a:extLst>
          </p:cNvPr>
          <p:cNvSpPr>
            <a:spLocks noGrp="1"/>
          </p:cNvSpPr>
          <p:nvPr>
            <p:ph type="dt" sz="half" idx="10"/>
          </p:nvPr>
        </p:nvSpPr>
        <p:spPr/>
        <p:txBody>
          <a:bodyPr/>
          <a:lstStyle/>
          <a:p>
            <a:fld id="{F23ED147-051E-46C6-8AEB-97F1ABE5DC52}" type="datetime1">
              <a:rPr lang="en-IN" smtClean="0"/>
              <a:t>05-12-2025</a:t>
            </a:fld>
            <a:endParaRPr lang="en-IN"/>
          </a:p>
        </p:txBody>
      </p:sp>
      <p:sp>
        <p:nvSpPr>
          <p:cNvPr id="3" name="Footer Placeholder 2">
            <a:extLst>
              <a:ext uri="{FF2B5EF4-FFF2-40B4-BE49-F238E27FC236}">
                <a16:creationId xmlns:a16="http://schemas.microsoft.com/office/drawing/2014/main" id="{7BB20150-8494-40B6-BC79-AC34893F70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275976-0206-4558-8E80-16D35DAF6DF4}"/>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2834913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9525B-CB2C-41DA-8124-552A9818D9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5A5B286-4D4E-4299-A82C-74A5E47F3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146905-625C-4EBF-B61C-4C68C779A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3C4AE4-3F4C-4DE2-91DB-C3802AE192F1}"/>
              </a:ext>
            </a:extLst>
          </p:cNvPr>
          <p:cNvSpPr>
            <a:spLocks noGrp="1"/>
          </p:cNvSpPr>
          <p:nvPr>
            <p:ph type="dt" sz="half" idx="10"/>
          </p:nvPr>
        </p:nvSpPr>
        <p:spPr/>
        <p:txBody>
          <a:bodyPr/>
          <a:lstStyle/>
          <a:p>
            <a:fld id="{7621A8F3-38A8-4955-AF82-BD92AC94395C}" type="datetime1">
              <a:rPr lang="en-IN" smtClean="0"/>
              <a:t>05-12-2025</a:t>
            </a:fld>
            <a:endParaRPr lang="en-IN"/>
          </a:p>
        </p:txBody>
      </p:sp>
      <p:sp>
        <p:nvSpPr>
          <p:cNvPr id="6" name="Footer Placeholder 5">
            <a:extLst>
              <a:ext uri="{FF2B5EF4-FFF2-40B4-BE49-F238E27FC236}">
                <a16:creationId xmlns:a16="http://schemas.microsoft.com/office/drawing/2014/main" id="{23E0B247-32C8-4255-A4D6-4FF280EFA4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D7CD28-DC2D-46A8-93B6-DC433D541F03}"/>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736718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37C-1BE7-4EF4-B690-DF5C4172B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AC1308-2AD7-4CD6-BE7C-5BA5FBE0ED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B9354D-7F76-4DA9-87D5-ACF6F4830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731E33F-053B-44B4-A35A-5544B9389BB6}"/>
              </a:ext>
            </a:extLst>
          </p:cNvPr>
          <p:cNvSpPr>
            <a:spLocks noGrp="1"/>
          </p:cNvSpPr>
          <p:nvPr>
            <p:ph type="dt" sz="half" idx="10"/>
          </p:nvPr>
        </p:nvSpPr>
        <p:spPr/>
        <p:txBody>
          <a:bodyPr/>
          <a:lstStyle/>
          <a:p>
            <a:fld id="{278D19D2-0F79-48EB-9C8E-D190446733C3}" type="datetime1">
              <a:rPr lang="en-IN" smtClean="0"/>
              <a:t>05-12-2025</a:t>
            </a:fld>
            <a:endParaRPr lang="en-IN"/>
          </a:p>
        </p:txBody>
      </p:sp>
      <p:sp>
        <p:nvSpPr>
          <p:cNvPr id="6" name="Footer Placeholder 5">
            <a:extLst>
              <a:ext uri="{FF2B5EF4-FFF2-40B4-BE49-F238E27FC236}">
                <a16:creationId xmlns:a16="http://schemas.microsoft.com/office/drawing/2014/main" id="{A45B8773-5E0C-4B3B-B0CC-F873A07154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064E78-11B9-4088-9BF9-F9265F60FCB0}"/>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287944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17EC3-934F-4DED-9BB5-F7D43F88AF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3493B0-DF3C-4C37-93B0-0A00E9D19FC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E07045-7522-411C-91CA-570B95F130E9}"/>
              </a:ext>
            </a:extLst>
          </p:cNvPr>
          <p:cNvSpPr>
            <a:spLocks noGrp="1"/>
          </p:cNvSpPr>
          <p:nvPr>
            <p:ph type="dt" sz="half" idx="10"/>
          </p:nvPr>
        </p:nvSpPr>
        <p:spPr/>
        <p:txBody>
          <a:bodyPr/>
          <a:lstStyle/>
          <a:p>
            <a:fld id="{E42C88CB-8631-436C-BD68-CB23A349A20F}" type="datetime1">
              <a:rPr lang="en-IN" smtClean="0"/>
              <a:t>05-12-2025</a:t>
            </a:fld>
            <a:endParaRPr lang="en-IN"/>
          </a:p>
        </p:txBody>
      </p:sp>
      <p:sp>
        <p:nvSpPr>
          <p:cNvPr id="5" name="Footer Placeholder 4">
            <a:extLst>
              <a:ext uri="{FF2B5EF4-FFF2-40B4-BE49-F238E27FC236}">
                <a16:creationId xmlns:a16="http://schemas.microsoft.com/office/drawing/2014/main" id="{AC249641-B849-4435-95F6-0150AD505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55BC8F-7BF0-4B9F-85E4-22A279C0C6DE}"/>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2963402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AFFF5-2B01-4918-BE22-1D4F623865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CF4292-9A8A-4872-AA14-D158D356852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6FDD29-D222-4587-8D40-C2161E8D2FD4}"/>
              </a:ext>
            </a:extLst>
          </p:cNvPr>
          <p:cNvSpPr>
            <a:spLocks noGrp="1"/>
          </p:cNvSpPr>
          <p:nvPr>
            <p:ph type="dt" sz="half" idx="10"/>
          </p:nvPr>
        </p:nvSpPr>
        <p:spPr/>
        <p:txBody>
          <a:bodyPr/>
          <a:lstStyle/>
          <a:p>
            <a:fld id="{0D0506E1-E1ED-4518-AA0A-E709E90C0E9E}" type="datetime1">
              <a:rPr lang="en-IN" smtClean="0"/>
              <a:t>05-12-2025</a:t>
            </a:fld>
            <a:endParaRPr lang="en-IN"/>
          </a:p>
        </p:txBody>
      </p:sp>
      <p:sp>
        <p:nvSpPr>
          <p:cNvPr id="5" name="Footer Placeholder 4">
            <a:extLst>
              <a:ext uri="{FF2B5EF4-FFF2-40B4-BE49-F238E27FC236}">
                <a16:creationId xmlns:a16="http://schemas.microsoft.com/office/drawing/2014/main" id="{F80CE9DA-C930-4B0E-BFA3-A7296BE478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A04AE6-5D47-47F8-91D8-A943AE0EF964}"/>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708385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419EC9-49C8-4E72-8554-723556DD61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9A1458-CCFC-4C79-B440-F6EE40685F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2F50B6-58D0-47E6-A8A6-4D9DFA8DE3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9D91EE-0B21-4202-9768-B2974CC6B6AE}" type="datetime1">
              <a:rPr lang="en-IN" smtClean="0"/>
              <a:t>05-12-2025</a:t>
            </a:fld>
            <a:endParaRPr lang="en-IN"/>
          </a:p>
        </p:txBody>
      </p:sp>
      <p:sp>
        <p:nvSpPr>
          <p:cNvPr id="5" name="Footer Placeholder 4">
            <a:extLst>
              <a:ext uri="{FF2B5EF4-FFF2-40B4-BE49-F238E27FC236}">
                <a16:creationId xmlns:a16="http://schemas.microsoft.com/office/drawing/2014/main" id="{4B02BDAE-2FA8-4914-B4A7-737DAB1F8F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1EEF26-D3FC-4AB4-86D4-4448D40289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CC76E6-CFCB-4CAB-BEB1-C8D87FAAD8BB}" type="slidenum">
              <a:rPr lang="en-IN" smtClean="0"/>
              <a:t>‹#›</a:t>
            </a:fld>
            <a:endParaRPr lang="en-IN"/>
          </a:p>
        </p:txBody>
      </p:sp>
    </p:spTree>
    <p:extLst>
      <p:ext uri="{BB962C8B-B14F-4D97-AF65-F5344CB8AC3E}">
        <p14:creationId xmlns:p14="http://schemas.microsoft.com/office/powerpoint/2010/main" val="3884441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7">
            <a:extLst>
              <a:ext uri="{FF2B5EF4-FFF2-40B4-BE49-F238E27FC236}">
                <a16:creationId xmlns:a16="http://schemas.microsoft.com/office/drawing/2014/main" id="{33A4F771-447A-4659-BDB2-FEED5B2BE204}"/>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2051" name="Rectangle 8">
            <a:extLst>
              <a:ext uri="{FF2B5EF4-FFF2-40B4-BE49-F238E27FC236}">
                <a16:creationId xmlns:a16="http://schemas.microsoft.com/office/drawing/2014/main" id="{87447245-16FB-43C5-8EE7-D614998C7231}"/>
              </a:ext>
            </a:extLst>
          </p:cNvPr>
          <p:cNvSpPr>
            <a:spLocks noChangeArrowheads="1"/>
          </p:cNvSpPr>
          <p:nvPr/>
        </p:nvSpPr>
        <p:spPr bwMode="auto">
          <a:xfrm>
            <a:off x="2382838" y="139700"/>
            <a:ext cx="95821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tabLst>
                <a:tab pos="1303338" algn="r"/>
                <a:tab pos="2865438" algn="ctr"/>
                <a:tab pos="5730875" algn="r"/>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1303338" algn="r"/>
                <a:tab pos="2865438" algn="ctr"/>
                <a:tab pos="5730875" algn="r"/>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1303338" algn="r"/>
                <a:tab pos="2865438" algn="ctr"/>
                <a:tab pos="5730875" algn="r"/>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9pPr>
          </a:lstStyle>
          <a:p>
            <a:pPr algn="ctr">
              <a:lnSpc>
                <a:spcPct val="100000"/>
              </a:lnSpc>
              <a:spcBef>
                <a:spcPct val="0"/>
              </a:spcBef>
              <a:buFontTx/>
              <a:buNone/>
            </a:pPr>
            <a:r>
              <a:rPr lang="en-US" altLang="en-US"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KOLHAPUR INSTITUTE OF TECHNOLOGY’S </a:t>
            </a:r>
          </a:p>
          <a:p>
            <a:pPr algn="ctr">
              <a:lnSpc>
                <a:spcPct val="100000"/>
              </a:lnSpc>
              <a:spcBef>
                <a:spcPct val="0"/>
              </a:spcBef>
              <a:buFontTx/>
              <a:buNone/>
            </a:pPr>
            <a:r>
              <a:rPr lang="en-US" altLang="en-US"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COLLEGE OF ENGINEERING KOLHAPUR </a:t>
            </a:r>
          </a:p>
          <a:p>
            <a:pPr algn="ctr">
              <a:lnSpc>
                <a:spcPct val="100000"/>
              </a:lnSpc>
              <a:spcBef>
                <a:spcPct val="0"/>
              </a:spcBef>
              <a:buFontTx/>
              <a:buNone/>
            </a:pPr>
            <a:r>
              <a:rPr lang="en-US" altLang="en-US"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(EMPOWERED AUTONOMOUS)</a:t>
            </a:r>
            <a:endParaRPr lang="en-US" altLang="en-US" sz="1400"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ct val="0"/>
              </a:spcBef>
              <a:buFont typeface="Arial" panose="020B0604020202020204" pitchFamily="34" charset="0"/>
              <a:buNone/>
            </a:pPr>
            <a:r>
              <a:rPr lang="en-US" altLang="en-US" sz="2400" b="1" dirty="0">
                <a:latin typeface="Times New Roman" panose="02020603050405020304" pitchFamily="18" charset="0"/>
                <a:ea typeface="Calibri" panose="020F0502020204030204" pitchFamily="34" charset="0"/>
                <a:cs typeface="Times New Roman" panose="02020603050405020304" pitchFamily="18" charset="0"/>
              </a:rPr>
              <a:t>Department of Computer Science &amp; Engineering</a:t>
            </a: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ubtitle 2">
            <a:extLst>
              <a:ext uri="{FF2B5EF4-FFF2-40B4-BE49-F238E27FC236}">
                <a16:creationId xmlns:a16="http://schemas.microsoft.com/office/drawing/2014/main" id="{266C8BD1-E215-4AC2-8E1C-05D670755C53}"/>
              </a:ext>
            </a:extLst>
          </p:cNvPr>
          <p:cNvSpPr txBox="1">
            <a:spLocks/>
          </p:cNvSpPr>
          <p:nvPr/>
        </p:nvSpPr>
        <p:spPr>
          <a:xfrm>
            <a:off x="1081087" y="3121025"/>
            <a:ext cx="10029825" cy="3686175"/>
          </a:xfrm>
          <a:prstGeom prst="rect">
            <a:avLst/>
          </a:prstGeom>
        </p:spPr>
        <p:txBody>
          <a:bodyPr>
            <a:normAutofit fontScale="47500" lnSpcReduction="20000"/>
          </a:bodyPr>
          <a:lstStyle/>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a:t>
            </a:r>
            <a:r>
              <a:rPr lang="en-US" sz="4500" b="1" u="sng" dirty="0">
                <a:latin typeface="Times New Roman" panose="02020603050405020304" pitchFamily="18" charset="0"/>
                <a:cs typeface="Times New Roman" panose="02020603050405020304" pitchFamily="18" charset="0"/>
              </a:rPr>
              <a:t>Guide:</a:t>
            </a:r>
            <a:r>
              <a:rPr lang="en-US" sz="4500" b="1" dirty="0">
                <a:latin typeface="Times New Roman" panose="02020603050405020304" pitchFamily="18" charset="0"/>
                <a:cs typeface="Times New Roman" panose="02020603050405020304" pitchFamily="18" charset="0"/>
              </a:rPr>
              <a:t>			                              </a:t>
            </a:r>
          </a:p>
          <a:p>
            <a:pPr marL="274320" indent="-274320">
              <a:spcBef>
                <a:spcPct val="20000"/>
              </a:spcBef>
              <a:buClr>
                <a:schemeClr val="accent3"/>
              </a:buClr>
              <a:buSzPct val="95000"/>
              <a:defRPr/>
            </a:pPr>
            <a:r>
              <a:rPr lang="en-US" sz="4500" b="1" dirty="0">
                <a:latin typeface="Times New Roman" panose="02020603050405020304" pitchFamily="18" charset="0"/>
                <a:cs typeface="Times New Roman" panose="02020603050405020304" pitchFamily="18" charset="0"/>
              </a:rPr>
              <a:t>	                                                   Mr. Sameer B. Patil		                    </a:t>
            </a:r>
          </a:p>
          <a:p>
            <a:pPr marL="274320" indent="-274320" eaLnBrk="1" fontAlgn="auto" hangingPunct="1">
              <a:spcBef>
                <a:spcPct val="20000"/>
              </a:spcBef>
              <a:spcAft>
                <a:spcPts val="0"/>
              </a:spcAft>
              <a:buClr>
                <a:schemeClr val="accent3"/>
              </a:buClr>
              <a:buSzPct val="95000"/>
              <a:defRPr/>
            </a:pPr>
            <a:endParaRPr lang="en-US" sz="4500" b="1" dirty="0">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r>
              <a:rPr lang="en-US" sz="4500" b="1" u="sng" dirty="0">
                <a:latin typeface="Times New Roman" panose="02020603050405020304" pitchFamily="18" charset="0"/>
                <a:cs typeface="Times New Roman" panose="02020603050405020304" pitchFamily="18" charset="0"/>
              </a:rPr>
              <a:t>Project Group No: G46_</a:t>
            </a:r>
          </a:p>
          <a:p>
            <a:pPr algn="ctr" eaLnBrk="1" fontAlgn="auto" hangingPunct="1">
              <a:spcBef>
                <a:spcPct val="20000"/>
              </a:spcBef>
              <a:spcAft>
                <a:spcPts val="0"/>
              </a:spcAft>
              <a:buClr>
                <a:schemeClr val="accent3"/>
              </a:buClr>
              <a:buSzPct val="95000"/>
              <a:defRPr/>
            </a:pPr>
            <a:r>
              <a:rPr lang="en-US" sz="4500" b="1" u="sng" dirty="0">
                <a:latin typeface="Times New Roman" panose="02020603050405020304" pitchFamily="18" charset="0"/>
                <a:cs typeface="Times New Roman" panose="02020603050405020304" pitchFamily="18" charset="0"/>
              </a:rPr>
              <a:t>Name of </a:t>
            </a:r>
            <a:r>
              <a:rPr lang="en-US" sz="4500" b="1" u="sng" dirty="0" err="1">
                <a:latin typeface="Times New Roman" panose="02020603050405020304" pitchFamily="18" charset="0"/>
                <a:cs typeface="Times New Roman" panose="02020603050405020304" pitchFamily="18" charset="0"/>
              </a:rPr>
              <a:t>Projectees</a:t>
            </a:r>
            <a:endParaRPr lang="en-US" sz="4500" b="1" u="sng" dirty="0">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endParaRPr lang="en-US" sz="4500" b="1" u="sng"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Mihir Patil – A77                                                          Manas Sutar – A79</a:t>
            </a:r>
          </a:p>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Yash Sawant –A76                                                        Janhavi Patil- A86</a:t>
            </a:r>
          </a:p>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Mrudula Satpute –A78</a:t>
            </a:r>
            <a:endParaRPr lang="en-US" sz="2600" b="1"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sz="4500" b="1" dirty="0">
                <a:latin typeface="Times New Roman" pitchFamily="18" charset="0"/>
                <a:cs typeface="Times New Roman" pitchFamily="18" charset="0"/>
              </a:rPr>
              <a:t>     </a:t>
            </a:r>
            <a:endParaRPr lang="en-US" sz="2600" dirty="0">
              <a:latin typeface="Times New Roman" panose="02020603050405020304" pitchFamily="18" charset="0"/>
              <a:cs typeface="Times New Roman" panose="02020603050405020304" pitchFamily="18" charset="0"/>
            </a:endParaRPr>
          </a:p>
        </p:txBody>
      </p:sp>
      <p:sp>
        <p:nvSpPr>
          <p:cNvPr id="2053" name="Rectangle 5">
            <a:extLst>
              <a:ext uri="{FF2B5EF4-FFF2-40B4-BE49-F238E27FC236}">
                <a16:creationId xmlns:a16="http://schemas.microsoft.com/office/drawing/2014/main" id="{13341CA2-CE21-408C-A90D-494B7FE36A37}"/>
              </a:ext>
            </a:extLst>
          </p:cNvPr>
          <p:cNvSpPr txBox="1">
            <a:spLocks noChangeArrowheads="1"/>
          </p:cNvSpPr>
          <p:nvPr/>
        </p:nvSpPr>
        <p:spPr bwMode="auto">
          <a:xfrm>
            <a:off x="2291684" y="2139950"/>
            <a:ext cx="8229600" cy="75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Wingdings 2" panose="05020102010507070707" pitchFamily="18" charset="2"/>
              <a:buNone/>
            </a:pPr>
            <a:r>
              <a:rPr lang="en-US" altLang="en-US" sz="2400" b="1" dirty="0">
                <a:solidFill>
                  <a:srgbClr val="FF0000"/>
                </a:solidFill>
                <a:latin typeface="Arial Black" panose="020B0A04020102020204" pitchFamily="34" charset="0"/>
                <a:cs typeface="Aharoni" panose="02010803020104030203" pitchFamily="2" charset="-79"/>
              </a:rPr>
              <a:t>Algorithmic Study of Financial Market for Economic Development</a:t>
            </a:r>
            <a:endParaRPr lang="en-US" altLang="en-US" sz="2400" b="1" u="sng" dirty="0">
              <a:solidFill>
                <a:srgbClr val="FF0000"/>
              </a:solidFill>
              <a:latin typeface="Castellar" panose="020A0402060406010301" pitchFamily="18" charset="0"/>
            </a:endParaRPr>
          </a:p>
        </p:txBody>
      </p:sp>
      <p:pic>
        <p:nvPicPr>
          <p:cNvPr id="2054" name="Picture 8">
            <a:extLst>
              <a:ext uri="{FF2B5EF4-FFF2-40B4-BE49-F238E27FC236}">
                <a16:creationId xmlns:a16="http://schemas.microsoft.com/office/drawing/2014/main" id="{6DCC6249-13E5-423D-8E96-6A2303266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12" y="228600"/>
            <a:ext cx="27241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6019115E-4342-43D0-B530-9AC94F73B2CD}"/>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 name="Title 1">
            <a:extLst>
              <a:ext uri="{FF2B5EF4-FFF2-40B4-BE49-F238E27FC236}">
                <a16:creationId xmlns:a16="http://schemas.microsoft.com/office/drawing/2014/main" id="{9B599685-530F-44AD-8D73-BDD78FBB04AB}"/>
              </a:ext>
            </a:extLst>
          </p:cNvPr>
          <p:cNvSpPr txBox="1">
            <a:spLocks/>
          </p:cNvSpPr>
          <p:nvPr/>
        </p:nvSpPr>
        <p:spPr bwMode="auto">
          <a:xfrm>
            <a:off x="428625" y="5343525"/>
            <a:ext cx="104457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endParaRPr lang="en-US" sz="3200" b="1" dirty="0">
              <a:latin typeface="Times New Roman" pitchFamily="18" charset="0"/>
              <a:cs typeface="Times New Roman" pitchFamily="18" charset="0"/>
            </a:endParaRPr>
          </a:p>
        </p:txBody>
      </p:sp>
      <p:sp>
        <p:nvSpPr>
          <p:cNvPr id="10" name="Content Placeholder 2">
            <a:extLst>
              <a:ext uri="{FF2B5EF4-FFF2-40B4-BE49-F238E27FC236}">
                <a16:creationId xmlns:a16="http://schemas.microsoft.com/office/drawing/2014/main" id="{D084C8A3-38EF-4C4F-A1D7-FF72E5D8F5AC}"/>
              </a:ext>
            </a:extLst>
          </p:cNvPr>
          <p:cNvSpPr txBox="1">
            <a:spLocks/>
          </p:cNvSpPr>
          <p:nvPr/>
        </p:nvSpPr>
        <p:spPr bwMode="auto">
          <a:xfrm>
            <a:off x="428625" y="1041400"/>
            <a:ext cx="10445750" cy="4121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orm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Introduction</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Literature Survey</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Objectives</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Methodology with Block/Layout Diagram</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Work plan</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Progress Work Completed </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Expected Result</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References</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Acknowledgement</a:t>
            </a:r>
          </a:p>
        </p:txBody>
      </p:sp>
      <p:sp>
        <p:nvSpPr>
          <p:cNvPr id="12" name="Title 1">
            <a:extLst>
              <a:ext uri="{FF2B5EF4-FFF2-40B4-BE49-F238E27FC236}">
                <a16:creationId xmlns:a16="http://schemas.microsoft.com/office/drawing/2014/main" id="{A58F7FE7-ABED-4263-9CBA-C64B058CA31D}"/>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A0272690-1D96-49FA-A66D-15B3F54BA429}"/>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4" name="Title 1">
            <a:extLst>
              <a:ext uri="{FF2B5EF4-FFF2-40B4-BE49-F238E27FC236}">
                <a16:creationId xmlns:a16="http://schemas.microsoft.com/office/drawing/2014/main" id="{B4FB8D16-94BB-4E73-B011-EA3F64E3D09F}"/>
              </a:ext>
            </a:extLst>
          </p:cNvPr>
          <p:cNvSpPr txBox="1">
            <a:spLocks/>
          </p:cNvSpPr>
          <p:nvPr/>
        </p:nvSpPr>
        <p:spPr bwMode="auto">
          <a:xfrm>
            <a:off x="0" y="-2147"/>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Introduction</a:t>
            </a:r>
          </a:p>
        </p:txBody>
      </p:sp>
      <p:sp>
        <p:nvSpPr>
          <p:cNvPr id="9" name="TextBox 8">
            <a:extLst>
              <a:ext uri="{FF2B5EF4-FFF2-40B4-BE49-F238E27FC236}">
                <a16:creationId xmlns:a16="http://schemas.microsoft.com/office/drawing/2014/main" id="{3BC4DF98-C10B-D84F-47FC-0A0F6F48ADBC}"/>
              </a:ext>
            </a:extLst>
          </p:cNvPr>
          <p:cNvSpPr txBox="1"/>
          <p:nvPr/>
        </p:nvSpPr>
        <p:spPr>
          <a:xfrm>
            <a:off x="275303" y="1052052"/>
            <a:ext cx="11720052" cy="5632311"/>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Union Budget is one of the most important financial statements presented by the government, outlining revenue, expenditure, and policy priorities for the upcoming year.</a:t>
            </a:r>
          </a:p>
          <a:p>
            <a:pPr marL="342900" indent="-342900">
              <a:buFont typeface="Arial" panose="020B0604020202020204" pitchFamily="34" charset="0"/>
              <a:buChar char="•"/>
            </a:pPr>
            <a:r>
              <a:rPr lang="en-US" sz="2400" dirty="0"/>
              <a:t>Due to its </a:t>
            </a:r>
            <a:r>
              <a:rPr lang="en-US" sz="2400" b="1" dirty="0"/>
              <a:t>complex structure</a:t>
            </a:r>
            <a:r>
              <a:rPr lang="en-US" sz="2400" dirty="0"/>
              <a:t>, vast amounts of numerical and textual data, and wide-ranging implications for the economy, businesses, and citizens, analyzing it manually is time-consuming and challenging.</a:t>
            </a:r>
          </a:p>
          <a:p>
            <a:pPr marL="342900" indent="-342900">
              <a:buFont typeface="Arial" panose="020B0604020202020204" pitchFamily="34" charset="0"/>
              <a:buChar char="•"/>
            </a:pPr>
            <a:r>
              <a:rPr lang="en-US" sz="2400" dirty="0"/>
              <a:t>Leveraging </a:t>
            </a:r>
            <a:r>
              <a:rPr lang="en-US" sz="2400" b="1" dirty="0"/>
              <a:t>Artificial Intelligence and Machine Learning (AIML)</a:t>
            </a:r>
            <a:r>
              <a:rPr lang="en-US" sz="2400" dirty="0"/>
              <a:t> provides an opportunity to automatically </a:t>
            </a:r>
            <a:r>
              <a:rPr lang="en-US" sz="2400" b="1" dirty="0"/>
              <a:t>extract insights, detect trends, and make predictive analyses</a:t>
            </a:r>
            <a:r>
              <a:rPr lang="en-US" sz="2400" dirty="0"/>
              <a:t> from budget documents. </a:t>
            </a:r>
          </a:p>
          <a:p>
            <a:pPr marL="342900" indent="-342900">
              <a:buFont typeface="Arial" panose="020B0604020202020204" pitchFamily="34" charset="0"/>
              <a:buChar char="•"/>
            </a:pPr>
            <a:r>
              <a:rPr lang="en-US" sz="2400" dirty="0"/>
              <a:t>By applying AIML techniques, it becomes possible to understand the budget’s impact on sectors, forecast economic indicators, and support informed decision-making. </a:t>
            </a:r>
          </a:p>
          <a:p>
            <a:pPr marL="342900" indent="-342900">
              <a:buFont typeface="Arial" panose="020B0604020202020204" pitchFamily="34" charset="0"/>
              <a:buChar char="•"/>
            </a:pPr>
            <a:r>
              <a:rPr lang="en-US" sz="2400" dirty="0"/>
              <a:t>This project aims to harness AI for </a:t>
            </a:r>
            <a:r>
              <a:rPr lang="en-US" sz="2400" b="1" dirty="0"/>
              <a:t>efficient, data-driven analysis</a:t>
            </a:r>
            <a:r>
              <a:rPr lang="en-US" sz="2400" dirty="0"/>
              <a:t> of the Union Budget, transforming raw financial data into actionable insights.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8693CDA-D8C3-45E2-A3CC-B2D1A2A6ED50}"/>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graphicFrame>
        <p:nvGraphicFramePr>
          <p:cNvPr id="2" name="Table 1">
            <a:extLst>
              <a:ext uri="{FF2B5EF4-FFF2-40B4-BE49-F238E27FC236}">
                <a16:creationId xmlns:a16="http://schemas.microsoft.com/office/drawing/2014/main" id="{BC8357E9-BC7C-41E8-9010-64118C1748C9}"/>
              </a:ext>
            </a:extLst>
          </p:cNvPr>
          <p:cNvGraphicFramePr>
            <a:graphicFrameLocks noGrp="1"/>
          </p:cNvGraphicFramePr>
          <p:nvPr>
            <p:extLst>
              <p:ext uri="{D42A27DB-BD31-4B8C-83A1-F6EECF244321}">
                <p14:modId xmlns:p14="http://schemas.microsoft.com/office/powerpoint/2010/main" val="4281634620"/>
              </p:ext>
            </p:extLst>
          </p:nvPr>
        </p:nvGraphicFramePr>
        <p:xfrm>
          <a:off x="0" y="1416643"/>
          <a:ext cx="12191999" cy="4696717"/>
        </p:xfrm>
        <a:graphic>
          <a:graphicData uri="http://schemas.openxmlformats.org/drawingml/2006/table">
            <a:tbl>
              <a:tblPr firstRow="1" bandRow="1">
                <a:tableStyleId>{21E4AEA4-8DFA-4A89-87EB-49C32662AFE0}</a:tableStyleId>
              </a:tblPr>
              <a:tblGrid>
                <a:gridCol w="1149204">
                  <a:extLst>
                    <a:ext uri="{9D8B030D-6E8A-4147-A177-3AD203B41FA5}">
                      <a16:colId xmlns:a16="http://schemas.microsoft.com/office/drawing/2014/main" val="20000"/>
                    </a:ext>
                  </a:extLst>
                </a:gridCol>
                <a:gridCol w="4589444">
                  <a:extLst>
                    <a:ext uri="{9D8B030D-6E8A-4147-A177-3AD203B41FA5}">
                      <a16:colId xmlns:a16="http://schemas.microsoft.com/office/drawing/2014/main" val="20001"/>
                    </a:ext>
                  </a:extLst>
                </a:gridCol>
                <a:gridCol w="2459421">
                  <a:extLst>
                    <a:ext uri="{9D8B030D-6E8A-4147-A177-3AD203B41FA5}">
                      <a16:colId xmlns:a16="http://schemas.microsoft.com/office/drawing/2014/main" val="20002"/>
                    </a:ext>
                  </a:extLst>
                </a:gridCol>
                <a:gridCol w="3993930">
                  <a:extLst>
                    <a:ext uri="{9D8B030D-6E8A-4147-A177-3AD203B41FA5}">
                      <a16:colId xmlns:a16="http://schemas.microsoft.com/office/drawing/2014/main" val="20003"/>
                    </a:ext>
                  </a:extLst>
                </a:gridCol>
              </a:tblGrid>
              <a:tr h="377386">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Paper</a:t>
                      </a:r>
                      <a:r>
                        <a:rPr lang="en-US" sz="1800" baseline="0" dirty="0">
                          <a:solidFill>
                            <a:schemeClr val="bg1"/>
                          </a:solidFill>
                          <a:latin typeface="Times New Roman" panose="02020603050405020304" pitchFamily="18" charset="0"/>
                          <a:cs typeface="Times New Roman" panose="02020603050405020304" pitchFamily="18" charset="0"/>
                        </a:rPr>
                        <a:t> Title and Author</a:t>
                      </a:r>
                      <a:endParaRPr lang="en-US" sz="1800" dirty="0">
                        <a:solidFill>
                          <a:schemeClr val="bg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Details of Publication</a:t>
                      </a:r>
                    </a:p>
                    <a:p>
                      <a:pPr algn="ctr"/>
                      <a:r>
                        <a:rPr lang="en-US" sz="1800" dirty="0">
                          <a:solidFill>
                            <a:schemeClr val="bg1"/>
                          </a:solidFill>
                          <a:latin typeface="Times New Roman" panose="02020603050405020304" pitchFamily="18" charset="0"/>
                          <a:cs typeface="Times New Roman" panose="02020603050405020304" pitchFamily="18" charset="0"/>
                        </a:rPr>
                        <a:t>[</a:t>
                      </a:r>
                      <a:r>
                        <a:rPr lang="en-US" sz="1800" dirty="0" err="1">
                          <a:solidFill>
                            <a:schemeClr val="bg1"/>
                          </a:solidFill>
                          <a:latin typeface="Times New Roman" panose="02020603050405020304" pitchFamily="18" charset="0"/>
                          <a:cs typeface="Times New Roman" panose="02020603050405020304" pitchFamily="18" charset="0"/>
                        </a:rPr>
                        <a:t>Numer</a:t>
                      </a:r>
                      <a:r>
                        <a:rPr lang="en-US" sz="1800" dirty="0">
                          <a:solidFill>
                            <a:schemeClr val="bg1"/>
                          </a:solidFill>
                          <a:latin typeface="Times New Roman" panose="02020603050405020304" pitchFamily="18" charset="0"/>
                          <a:cs typeface="Times New Roman" panose="02020603050405020304" pitchFamily="18" charset="0"/>
                        </a:rPr>
                        <a:t> in Reference]</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34800">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1</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Budget Document Summarization </a:t>
                      </a:r>
                    </a:p>
                    <a:p>
                      <a:pPr algn="ctr"/>
                      <a:r>
                        <a:rPr lang="en-US" sz="1800" dirty="0">
                          <a:solidFill>
                            <a:schemeClr val="tx1"/>
                          </a:solidFill>
                          <a:latin typeface="Times New Roman" panose="02020603050405020304" pitchFamily="18" charset="0"/>
                          <a:cs typeface="Times New Roman" panose="02020603050405020304" pitchFamily="18" charset="0"/>
                        </a:rPr>
                        <a:t>-Mihalcea &amp; </a:t>
                      </a:r>
                      <a:r>
                        <a:rPr lang="en-US" sz="1800" dirty="0" err="1">
                          <a:solidFill>
                            <a:schemeClr val="tx1"/>
                          </a:solidFill>
                          <a:latin typeface="Times New Roman" panose="02020603050405020304" pitchFamily="18" charset="0"/>
                          <a:cs typeface="Times New Roman" panose="02020603050405020304" pitchFamily="18" charset="0"/>
                        </a:rPr>
                        <a:t>Tarau</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err="1">
                          <a:solidFill>
                            <a:schemeClr val="tx1"/>
                          </a:solidFill>
                          <a:latin typeface="Times New Roman" panose="02020603050405020304" pitchFamily="18" charset="0"/>
                          <a:cs typeface="Times New Roman" panose="02020603050405020304" pitchFamily="18" charset="0"/>
                        </a:rPr>
                        <a:t>Textrank</a:t>
                      </a:r>
                      <a:r>
                        <a:rPr lang="en-US" sz="1800" dirty="0">
                          <a:solidFill>
                            <a:schemeClr val="tx1"/>
                          </a:solidFill>
                          <a:latin typeface="Times New Roman" panose="02020603050405020304" pitchFamily="18" charset="0"/>
                          <a:cs typeface="Times New Roman" panose="02020603050405020304" pitchFamily="18" charset="0"/>
                        </a:rPr>
                        <a:t>, 2024</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Recent works use Transformer-based models (BERT, BART, T5) for abstractive summarization, enabling concise and human-like summaries of large policy texts such as budget speeches.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167325">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Sentiment Analysis of Budget and Policy</a:t>
                      </a:r>
                    </a:p>
                    <a:p>
                      <a:pPr algn="ctr"/>
                      <a:r>
                        <a:rPr lang="en-US" sz="1800" dirty="0">
                          <a:solidFill>
                            <a:schemeClr val="tx1"/>
                          </a:solidFill>
                          <a:latin typeface="Times New Roman" panose="02020603050405020304" pitchFamily="18" charset="0"/>
                          <a:cs typeface="Times New Roman" panose="02020603050405020304" pitchFamily="18" charset="0"/>
                        </a:rPr>
                        <a:t>-</a:t>
                      </a:r>
                      <a:r>
                        <a:rPr lang="sv-SE" dirty="0"/>
                        <a:t>Bo Pang and Lillian Lee</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Proceedings of the 42nd Annual Meeting of the ACL, 2022</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Sentiment analysis has been extensively used in political science and economics to gauge public reactions. Deep learning models (LSTM, BERT) have shown higher accuracy in detecting fine-grained sentiments compared to classical models.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67325">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Presents Union Budget                                               </a:t>
                      </a:r>
                    </a:p>
                    <a:p>
                      <a:pPr algn="ctr"/>
                      <a:r>
                        <a:rPr lang="en-IN" dirty="0"/>
                        <a:t>-Nirmala Sitharaman </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Hindustan Times 2024 Jul 23</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Provides </a:t>
                      </a:r>
                      <a:r>
                        <a:rPr lang="en-IN" sz="1600" dirty="0">
                          <a:solidFill>
                            <a:schemeClr val="tx1"/>
                          </a:solidFill>
                          <a:latin typeface="Times New Roman" panose="02020603050405020304" pitchFamily="18" charset="0"/>
                          <a:cs typeface="Times New Roman" panose="02020603050405020304" pitchFamily="18" charset="0"/>
                        </a:rPr>
                        <a:t>Union</a:t>
                      </a:r>
                      <a:r>
                        <a:rPr lang="en-IN" sz="1600" dirty="0"/>
                        <a:t> Budget of 2024 and its live updates</a:t>
                      </a:r>
                      <a:endParaRPr lang="en-US" sz="16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69789"/>
                  </a:ext>
                </a:extLst>
              </a:tr>
            </a:tbl>
          </a:graphicData>
        </a:graphic>
      </p:graphicFrame>
      <p:sp>
        <p:nvSpPr>
          <p:cNvPr id="14" name="Title 1">
            <a:extLst>
              <a:ext uri="{FF2B5EF4-FFF2-40B4-BE49-F238E27FC236}">
                <a16:creationId xmlns:a16="http://schemas.microsoft.com/office/drawing/2014/main" id="{E451AD6B-A4C2-4049-907E-47413A8BB368}"/>
              </a:ext>
            </a:extLst>
          </p:cNvPr>
          <p:cNvSpPr txBox="1">
            <a:spLocks/>
          </p:cNvSpPr>
          <p:nvPr/>
        </p:nvSpPr>
        <p:spPr bwMode="auto">
          <a:xfrm>
            <a:off x="0" y="0"/>
            <a:ext cx="12192000" cy="953729"/>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B405162-C0AD-4126-B6A1-B8D65E97D6C2}"/>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7E159D60-39F0-4E35-8404-2C5CC3FF5B1D}"/>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100" b="1" dirty="0">
                <a:latin typeface="Times New Roman" pitchFamily="18" charset="0"/>
                <a:cs typeface="Times New Roman" pitchFamily="18" charset="0"/>
              </a:rPr>
              <a:t>Objectives </a:t>
            </a:r>
          </a:p>
        </p:txBody>
      </p:sp>
      <p:sp>
        <p:nvSpPr>
          <p:cNvPr id="7" name="TextBox 6">
            <a:extLst>
              <a:ext uri="{FF2B5EF4-FFF2-40B4-BE49-F238E27FC236}">
                <a16:creationId xmlns:a16="http://schemas.microsoft.com/office/drawing/2014/main" id="{6D10A900-7943-E665-C8C8-74AF63EAB5B7}"/>
              </a:ext>
            </a:extLst>
          </p:cNvPr>
          <p:cNvSpPr txBox="1"/>
          <p:nvPr/>
        </p:nvSpPr>
        <p:spPr>
          <a:xfrm>
            <a:off x="678426" y="1533832"/>
            <a:ext cx="11267768" cy="7663636"/>
          </a:xfrm>
          <a:prstGeom prst="rect">
            <a:avLst/>
          </a:prstGeom>
          <a:noFill/>
        </p:spPr>
        <p:txBody>
          <a:bodyPr wrap="square" rtlCol="0">
            <a:spAutoFit/>
          </a:bodyPr>
          <a:lstStyle/>
          <a:p>
            <a:pPr marL="457200" indent="-457200">
              <a:buFont typeface="Arial" panose="020B0604020202020204" pitchFamily="34" charset="0"/>
              <a:buChar char="•"/>
            </a:pPr>
            <a:r>
              <a:rPr lang="en-IN" sz="3200" dirty="0"/>
              <a:t>To extract meaningful insights from the Union Budget 2024 using machine learning techniques across four modules:</a:t>
            </a:r>
          </a:p>
          <a:p>
            <a:pPr marL="971550" lvl="1" indent="-514350">
              <a:buFont typeface="+mj-lt"/>
              <a:buAutoNum type="arabicPeriod"/>
            </a:pPr>
            <a:r>
              <a:rPr lang="en-IN" sz="2800" dirty="0"/>
              <a:t>Text Analytics (NLP)</a:t>
            </a:r>
          </a:p>
          <a:p>
            <a:pPr marL="971550" lvl="1" indent="-514350">
              <a:buFont typeface="+mj-lt"/>
              <a:buAutoNum type="arabicPeriod"/>
            </a:pPr>
            <a:r>
              <a:rPr lang="en-IN" sz="2800" dirty="0"/>
              <a:t>Sentiment Classification</a:t>
            </a:r>
          </a:p>
          <a:p>
            <a:pPr marL="971550" lvl="1" indent="-514350">
              <a:buFont typeface="+mj-lt"/>
              <a:buAutoNum type="arabicPeriod"/>
            </a:pPr>
            <a:r>
              <a:rPr lang="en-IN" sz="2800" dirty="0"/>
              <a:t>Numerical Forecasting</a:t>
            </a:r>
          </a:p>
          <a:p>
            <a:pPr marL="971550" lvl="1" indent="-514350">
              <a:buFont typeface="+mj-lt"/>
              <a:buAutoNum type="arabicPeriod"/>
            </a:pPr>
            <a:r>
              <a:rPr lang="en-IN" sz="2800" dirty="0"/>
              <a:t>Web Deployment</a:t>
            </a:r>
          </a:p>
          <a:p>
            <a:pPr marL="457200" lvl="0" indent="-457200">
              <a:buFont typeface="Arial" panose="020B0604020202020204" pitchFamily="34" charset="0"/>
              <a:buChar char="•"/>
            </a:pPr>
            <a:r>
              <a:rPr lang="en-IN" sz="3200" dirty="0" err="1"/>
              <a:t>Analyze</a:t>
            </a:r>
            <a:r>
              <a:rPr lang="en-IN" sz="3200" dirty="0"/>
              <a:t> budget documents and public reactions</a:t>
            </a:r>
          </a:p>
          <a:p>
            <a:pPr marL="457200" lvl="0" indent="-457200">
              <a:buFont typeface="Arial" panose="020B0604020202020204" pitchFamily="34" charset="0"/>
              <a:buChar char="•"/>
            </a:pPr>
            <a:r>
              <a:rPr lang="en-IN" sz="3200" dirty="0"/>
              <a:t>Forecast economic indicators</a:t>
            </a:r>
          </a:p>
          <a:p>
            <a:pPr marL="457200" lvl="0" indent="-457200">
              <a:buFont typeface="Arial" panose="020B0604020202020204" pitchFamily="34" charset="0"/>
              <a:buChar char="•"/>
            </a:pPr>
            <a:r>
              <a:rPr lang="en-IN" sz="3200" dirty="0"/>
              <a:t>Present results via an interactive dashboard</a:t>
            </a:r>
            <a:endParaRPr lang="en-US" sz="3200" dirty="0"/>
          </a:p>
          <a:p>
            <a:pPr lvl="1"/>
            <a:endParaRPr lang="en-IN" sz="2800" dirty="0"/>
          </a:p>
          <a:p>
            <a:pPr lvl="1"/>
            <a:endParaRPr lang="en-IN" sz="2800" dirty="0"/>
          </a:p>
          <a:p>
            <a:pPr lvl="1"/>
            <a:endParaRPr lang="en-IN" sz="2800" dirty="0"/>
          </a:p>
          <a:p>
            <a:pPr lvl="1"/>
            <a:endParaRPr lang="en-IN" sz="2800" dirty="0"/>
          </a:p>
          <a:p>
            <a:pPr lvl="1"/>
            <a:endParaRPr lang="en-IN" sz="2800" dirty="0"/>
          </a:p>
          <a:p>
            <a:pPr lvl="1"/>
            <a:endParaRPr lang="en-IN" sz="2800" dirty="0"/>
          </a:p>
          <a:p>
            <a:pPr lvl="1"/>
            <a:endParaRPr lang="en-IN" sz="2800" dirty="0"/>
          </a:p>
          <a:p>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82B82BED-C365-4D28-9F99-51A25B2B51A2}"/>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195" name="TextBox 7">
            <a:extLst>
              <a:ext uri="{FF2B5EF4-FFF2-40B4-BE49-F238E27FC236}">
                <a16:creationId xmlns:a16="http://schemas.microsoft.com/office/drawing/2014/main" id="{F589CCFE-D0C4-46DD-892D-5A0F4A6C5CFA}"/>
              </a:ext>
            </a:extLst>
          </p:cNvPr>
          <p:cNvSpPr txBox="1">
            <a:spLocks noChangeArrowheads="1"/>
          </p:cNvSpPr>
          <p:nvPr/>
        </p:nvSpPr>
        <p:spPr bwMode="auto">
          <a:xfrm>
            <a:off x="3462696" y="594044"/>
            <a:ext cx="23383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US" altLang="en-US" b="1" i="1" dirty="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67E07E29-9931-4DEF-B898-F182CEEE9394}"/>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Methodology with Block/Layout Diagram</a:t>
            </a:r>
          </a:p>
        </p:txBody>
      </p:sp>
      <p:pic>
        <p:nvPicPr>
          <p:cNvPr id="2" name="Content Placeholder 4">
            <a:extLst>
              <a:ext uri="{FF2B5EF4-FFF2-40B4-BE49-F238E27FC236}">
                <a16:creationId xmlns:a16="http://schemas.microsoft.com/office/drawing/2014/main" id="{C4479B3C-2FCD-6977-DDCF-E044554913EB}"/>
              </a:ext>
            </a:extLst>
          </p:cNvPr>
          <p:cNvPicPr>
            <a:picLocks noChangeAspect="1"/>
          </p:cNvPicPr>
          <p:nvPr/>
        </p:nvPicPr>
        <p:blipFill>
          <a:blip r:embed="rId2"/>
          <a:stretch>
            <a:fillRect/>
          </a:stretch>
        </p:blipFill>
        <p:spPr>
          <a:xfrm>
            <a:off x="1170741" y="776607"/>
            <a:ext cx="9850518" cy="57368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1FB6A-28B9-471E-BE62-A56C5D1279F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68231A8-137D-63E2-E83F-B429A8B50811}"/>
              </a:ext>
            </a:extLst>
          </p:cNvPr>
          <p:cNvSpPr>
            <a:spLocks noGrp="1"/>
          </p:cNvSpPr>
          <p:nvPr>
            <p:ph type="dt" sz="half" idx="10"/>
          </p:nvPr>
        </p:nvSpPr>
        <p:spPr/>
        <p:txBody>
          <a:bodyPr/>
          <a:lstStyle/>
          <a:p>
            <a:fld id="{F23ED147-051E-46C6-8AEB-97F1ABE5DC52}" type="datetime1">
              <a:rPr lang="en-IN" smtClean="0"/>
              <a:t>05-12-2025</a:t>
            </a:fld>
            <a:endParaRPr lang="en-IN"/>
          </a:p>
        </p:txBody>
      </p:sp>
      <p:sp>
        <p:nvSpPr>
          <p:cNvPr id="3" name="Slide Number Placeholder 2">
            <a:extLst>
              <a:ext uri="{FF2B5EF4-FFF2-40B4-BE49-F238E27FC236}">
                <a16:creationId xmlns:a16="http://schemas.microsoft.com/office/drawing/2014/main" id="{6F0E5D36-FCE2-0064-9114-89C8FC7A2FFC}"/>
              </a:ext>
            </a:extLst>
          </p:cNvPr>
          <p:cNvSpPr>
            <a:spLocks noGrp="1"/>
          </p:cNvSpPr>
          <p:nvPr>
            <p:ph type="sldNum" sz="quarter" idx="12"/>
          </p:nvPr>
        </p:nvSpPr>
        <p:spPr/>
        <p:txBody>
          <a:bodyPr/>
          <a:lstStyle/>
          <a:p>
            <a:fld id="{6ACC76E6-CFCB-4CAB-BEB1-C8D87FAAD8BB}" type="slidenum">
              <a:rPr lang="en-IN" smtClean="0"/>
              <a:t>7</a:t>
            </a:fld>
            <a:endParaRPr lang="en-IN"/>
          </a:p>
        </p:txBody>
      </p:sp>
      <p:pic>
        <p:nvPicPr>
          <p:cNvPr id="4" name="Picture 3">
            <a:extLst>
              <a:ext uri="{FF2B5EF4-FFF2-40B4-BE49-F238E27FC236}">
                <a16:creationId xmlns:a16="http://schemas.microsoft.com/office/drawing/2014/main" id="{A30B527E-17B7-01D2-EB56-7340DCD27B7F}"/>
              </a:ext>
            </a:extLst>
          </p:cNvPr>
          <p:cNvPicPr>
            <a:picLocks noChangeAspect="1"/>
          </p:cNvPicPr>
          <p:nvPr/>
        </p:nvPicPr>
        <p:blipFill>
          <a:blip r:embed="rId2"/>
          <a:stretch>
            <a:fillRect/>
          </a:stretch>
        </p:blipFill>
        <p:spPr>
          <a:xfrm>
            <a:off x="0" y="-88490"/>
            <a:ext cx="12192000" cy="834317"/>
          </a:xfrm>
          <a:prstGeom prst="rect">
            <a:avLst/>
          </a:prstGeom>
        </p:spPr>
      </p:pic>
      <p:sp>
        <p:nvSpPr>
          <p:cNvPr id="5" name="TextBox 4">
            <a:extLst>
              <a:ext uri="{FF2B5EF4-FFF2-40B4-BE49-F238E27FC236}">
                <a16:creationId xmlns:a16="http://schemas.microsoft.com/office/drawing/2014/main" id="{7113878A-87D1-CDF3-6094-96AC8AA88E5A}"/>
              </a:ext>
            </a:extLst>
          </p:cNvPr>
          <p:cNvSpPr txBox="1"/>
          <p:nvPr/>
        </p:nvSpPr>
        <p:spPr>
          <a:xfrm>
            <a:off x="206477" y="1071716"/>
            <a:ext cx="11700388" cy="7478970"/>
          </a:xfrm>
          <a:prstGeom prst="rect">
            <a:avLst/>
          </a:prstGeom>
          <a:noFill/>
        </p:spPr>
        <p:txBody>
          <a:bodyPr wrap="square" rtlCol="0">
            <a:spAutoFit/>
          </a:bodyPr>
          <a:lstStyle/>
          <a:p>
            <a:r>
              <a:rPr lang="en-US" sz="2400" dirty="0"/>
              <a:t>This AIML project on analyzing the Union Budget 2024 is organized into </a:t>
            </a:r>
            <a:r>
              <a:rPr lang="en-US" sz="2400" b="1" dirty="0"/>
              <a:t>five interconnected modules</a:t>
            </a:r>
            <a:r>
              <a:rPr lang="en-US" sz="2400" dirty="0"/>
              <a:t>, each addressing a specific aspect of data processing and insight generation. </a:t>
            </a:r>
          </a:p>
          <a:p>
            <a:endParaRPr lang="en-US" sz="2400" dirty="0"/>
          </a:p>
          <a:p>
            <a:r>
              <a:rPr lang="en-IN" sz="2400" b="1" dirty="0"/>
              <a:t>1. Data Source &amp; Preprocessing</a:t>
            </a:r>
          </a:p>
          <a:p>
            <a:r>
              <a:rPr lang="en-US" sz="2400" b="1" dirty="0"/>
              <a:t>Data Sources</a:t>
            </a:r>
          </a:p>
          <a:p>
            <a:r>
              <a:rPr lang="en-US" sz="2400" dirty="0"/>
              <a:t>For this project, data is collected from multiple reliable sources to capture both </a:t>
            </a:r>
            <a:r>
              <a:rPr lang="en-US" sz="2400" b="1" dirty="0"/>
              <a:t>official budget information</a:t>
            </a:r>
            <a:r>
              <a:rPr lang="en-US" sz="2400" dirty="0"/>
              <a:t> and </a:t>
            </a:r>
            <a:r>
              <a:rPr lang="en-US" sz="2400" b="1" dirty="0"/>
              <a:t>public reactions</a:t>
            </a:r>
            <a:r>
              <a:rPr lang="en-US" sz="2400" dirty="0"/>
              <a:t>:</a:t>
            </a:r>
          </a:p>
          <a:p>
            <a:r>
              <a:rPr lang="en-US" sz="2400" b="1" dirty="0"/>
              <a:t>Kaggle Datasets:</a:t>
            </a:r>
            <a:r>
              <a:rPr lang="en-US" sz="2400" dirty="0"/>
              <a:t> Structured datasets containing past budget documents, sectoral allocations, and economic indicators.</a:t>
            </a:r>
          </a:p>
          <a:p>
            <a:r>
              <a:rPr lang="en-US" sz="2400" b="1" dirty="0"/>
              <a:t>News Articles &amp; Tweets:</a:t>
            </a:r>
            <a:r>
              <a:rPr lang="en-US" sz="2400" dirty="0"/>
              <a:t> Real-time public reactions, opinions, and commentaries related to the Union Budget.</a:t>
            </a:r>
          </a:p>
          <a:p>
            <a:r>
              <a:rPr lang="en-US" sz="2400" b="1" dirty="0"/>
              <a:t>Government Portals:</a:t>
            </a:r>
            <a:r>
              <a:rPr lang="en-US" sz="2400" dirty="0"/>
              <a:t> Official budget speeches, reports, and notifications.</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IN" sz="2400" dirty="0"/>
          </a:p>
        </p:txBody>
      </p:sp>
    </p:spTree>
    <p:extLst>
      <p:ext uri="{BB962C8B-B14F-4D97-AF65-F5344CB8AC3E}">
        <p14:creationId xmlns:p14="http://schemas.microsoft.com/office/powerpoint/2010/main" val="3064319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BC56FC-E391-0BFF-3968-4AD2D08C60C3}"/>
              </a:ext>
            </a:extLst>
          </p:cNvPr>
          <p:cNvSpPr>
            <a:spLocks noGrp="1"/>
          </p:cNvSpPr>
          <p:nvPr>
            <p:ph type="dt" sz="half" idx="10"/>
          </p:nvPr>
        </p:nvSpPr>
        <p:spPr/>
        <p:txBody>
          <a:bodyPr/>
          <a:lstStyle/>
          <a:p>
            <a:fld id="{F23ED147-051E-46C6-8AEB-97F1ABE5DC52}" type="datetime1">
              <a:rPr lang="en-IN" smtClean="0"/>
              <a:t>05-12-2025</a:t>
            </a:fld>
            <a:endParaRPr lang="en-IN"/>
          </a:p>
        </p:txBody>
      </p:sp>
      <p:sp>
        <p:nvSpPr>
          <p:cNvPr id="3" name="Slide Number Placeholder 2">
            <a:extLst>
              <a:ext uri="{FF2B5EF4-FFF2-40B4-BE49-F238E27FC236}">
                <a16:creationId xmlns:a16="http://schemas.microsoft.com/office/drawing/2014/main" id="{073A581A-7E1E-0F3C-444B-481379ACD910}"/>
              </a:ext>
            </a:extLst>
          </p:cNvPr>
          <p:cNvSpPr>
            <a:spLocks noGrp="1"/>
          </p:cNvSpPr>
          <p:nvPr>
            <p:ph type="sldNum" sz="quarter" idx="12"/>
          </p:nvPr>
        </p:nvSpPr>
        <p:spPr/>
        <p:txBody>
          <a:bodyPr/>
          <a:lstStyle/>
          <a:p>
            <a:fld id="{6ACC76E6-CFCB-4CAB-BEB1-C8D87FAAD8BB}" type="slidenum">
              <a:rPr lang="en-IN" smtClean="0"/>
              <a:t>8</a:t>
            </a:fld>
            <a:endParaRPr lang="en-IN"/>
          </a:p>
        </p:txBody>
      </p:sp>
      <p:pic>
        <p:nvPicPr>
          <p:cNvPr id="4" name="Picture 3">
            <a:extLst>
              <a:ext uri="{FF2B5EF4-FFF2-40B4-BE49-F238E27FC236}">
                <a16:creationId xmlns:a16="http://schemas.microsoft.com/office/drawing/2014/main" id="{349B8F37-01EA-BBA6-A6DD-3056CC212F61}"/>
              </a:ext>
            </a:extLst>
          </p:cNvPr>
          <p:cNvPicPr>
            <a:picLocks noChangeAspect="1"/>
          </p:cNvPicPr>
          <p:nvPr/>
        </p:nvPicPr>
        <p:blipFill>
          <a:blip r:embed="rId2"/>
          <a:stretch>
            <a:fillRect/>
          </a:stretch>
        </p:blipFill>
        <p:spPr>
          <a:xfrm>
            <a:off x="0" y="-88490"/>
            <a:ext cx="12192000" cy="834317"/>
          </a:xfrm>
          <a:prstGeom prst="rect">
            <a:avLst/>
          </a:prstGeom>
        </p:spPr>
      </p:pic>
      <p:sp>
        <p:nvSpPr>
          <p:cNvPr id="5" name="TextBox 4">
            <a:extLst>
              <a:ext uri="{FF2B5EF4-FFF2-40B4-BE49-F238E27FC236}">
                <a16:creationId xmlns:a16="http://schemas.microsoft.com/office/drawing/2014/main" id="{C39C0424-F5FD-1349-A83D-3E555052BC2B}"/>
              </a:ext>
            </a:extLst>
          </p:cNvPr>
          <p:cNvSpPr txBox="1"/>
          <p:nvPr/>
        </p:nvSpPr>
        <p:spPr>
          <a:xfrm>
            <a:off x="206477" y="1071716"/>
            <a:ext cx="11700388" cy="4893647"/>
          </a:xfrm>
          <a:prstGeom prst="rect">
            <a:avLst/>
          </a:prstGeom>
          <a:noFill/>
        </p:spPr>
        <p:txBody>
          <a:bodyPr wrap="square" rtlCol="0">
            <a:spAutoFit/>
          </a:bodyPr>
          <a:lstStyle/>
          <a:p>
            <a:endParaRPr lang="en-US" sz="2400" dirty="0"/>
          </a:p>
          <a:p>
            <a:r>
              <a:rPr lang="en-US" sz="2400" b="1" dirty="0"/>
              <a:t>2. Text Analytics (NLP)</a:t>
            </a:r>
          </a:p>
          <a:p>
            <a:r>
              <a:rPr lang="en-US" sz="2400" b="1" dirty="0"/>
              <a:t>Purpose:</a:t>
            </a:r>
            <a:r>
              <a:rPr lang="en-US" sz="2400" dirty="0"/>
              <a:t> Extract structured information from unstructured budget documents, speeches, and news articles.</a:t>
            </a:r>
          </a:p>
          <a:p>
            <a:r>
              <a:rPr lang="en-US" sz="2400" b="1" dirty="0"/>
              <a:t>Techniques:</a:t>
            </a:r>
            <a:r>
              <a:rPr lang="en-US" sz="2400" dirty="0"/>
              <a:t> Natural Language Processing methods such as tokenization, named entity recognition, keyword extraction, and topic modeling.</a:t>
            </a:r>
          </a:p>
          <a:p>
            <a:r>
              <a:rPr lang="en-US" sz="2400" b="1" dirty="0"/>
              <a:t>Contribution:</a:t>
            </a:r>
            <a:r>
              <a:rPr lang="en-US" sz="2400" dirty="0"/>
              <a:t> Converts textual data into analyzable formats, allowing the system to identify key policy areas, sector allocations, and emerging themes.</a:t>
            </a:r>
          </a:p>
          <a:p>
            <a:endParaRPr lang="en-US" sz="2400" dirty="0"/>
          </a:p>
          <a:p>
            <a:endParaRPr lang="en-US" sz="2400" dirty="0"/>
          </a:p>
          <a:p>
            <a:endParaRPr lang="en-US" sz="2400" dirty="0"/>
          </a:p>
          <a:p>
            <a:endParaRPr lang="en-US" sz="2400" dirty="0"/>
          </a:p>
          <a:p>
            <a:endParaRPr lang="en-IN" sz="2400" dirty="0"/>
          </a:p>
        </p:txBody>
      </p:sp>
    </p:spTree>
    <p:extLst>
      <p:ext uri="{BB962C8B-B14F-4D97-AF65-F5344CB8AC3E}">
        <p14:creationId xmlns:p14="http://schemas.microsoft.com/office/powerpoint/2010/main" val="4071371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082E8E-A23C-0436-E65F-0E52D9984371}"/>
              </a:ext>
            </a:extLst>
          </p:cNvPr>
          <p:cNvSpPr>
            <a:spLocks noGrp="1"/>
          </p:cNvSpPr>
          <p:nvPr>
            <p:ph type="dt" sz="half" idx="10"/>
          </p:nvPr>
        </p:nvSpPr>
        <p:spPr/>
        <p:txBody>
          <a:bodyPr/>
          <a:lstStyle/>
          <a:p>
            <a:fld id="{F23ED147-051E-46C6-8AEB-97F1ABE5DC52}" type="datetime1">
              <a:rPr lang="en-IN" smtClean="0"/>
              <a:t>05-12-2025</a:t>
            </a:fld>
            <a:endParaRPr lang="en-IN"/>
          </a:p>
        </p:txBody>
      </p:sp>
      <p:sp>
        <p:nvSpPr>
          <p:cNvPr id="3" name="Slide Number Placeholder 2">
            <a:extLst>
              <a:ext uri="{FF2B5EF4-FFF2-40B4-BE49-F238E27FC236}">
                <a16:creationId xmlns:a16="http://schemas.microsoft.com/office/drawing/2014/main" id="{2C264781-341F-ECD7-7537-C8CAC0F74704}"/>
              </a:ext>
            </a:extLst>
          </p:cNvPr>
          <p:cNvSpPr>
            <a:spLocks noGrp="1"/>
          </p:cNvSpPr>
          <p:nvPr>
            <p:ph type="sldNum" sz="quarter" idx="12"/>
          </p:nvPr>
        </p:nvSpPr>
        <p:spPr/>
        <p:txBody>
          <a:bodyPr/>
          <a:lstStyle/>
          <a:p>
            <a:fld id="{6ACC76E6-CFCB-4CAB-BEB1-C8D87FAAD8BB}" type="slidenum">
              <a:rPr lang="en-IN" smtClean="0"/>
              <a:t>9</a:t>
            </a:fld>
            <a:endParaRPr lang="en-IN"/>
          </a:p>
        </p:txBody>
      </p:sp>
      <p:pic>
        <p:nvPicPr>
          <p:cNvPr id="4" name="Picture 2" descr="Flowchart: Preprocessing and sentiment analysis. | Download Scientific ...">
            <a:extLst>
              <a:ext uri="{FF2B5EF4-FFF2-40B4-BE49-F238E27FC236}">
                <a16:creationId xmlns:a16="http://schemas.microsoft.com/office/drawing/2014/main" id="{61D419DE-44AF-BEEB-D787-78E2CAEA5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4316" y="204465"/>
            <a:ext cx="4583368" cy="6449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15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D7261E-0E07-0D41-87F5-8A50CB8A51A7}"/>
              </a:ext>
            </a:extLst>
          </p:cNvPr>
          <p:cNvSpPr>
            <a:spLocks noGrp="1"/>
          </p:cNvSpPr>
          <p:nvPr>
            <p:ph type="dt" sz="half" idx="10"/>
          </p:nvPr>
        </p:nvSpPr>
        <p:spPr/>
        <p:txBody>
          <a:bodyPr/>
          <a:lstStyle/>
          <a:p>
            <a:endParaRPr lang="en-IN" dirty="0"/>
          </a:p>
        </p:txBody>
      </p:sp>
      <p:sp>
        <p:nvSpPr>
          <p:cNvPr id="3" name="Slide Number Placeholder 2">
            <a:extLst>
              <a:ext uri="{FF2B5EF4-FFF2-40B4-BE49-F238E27FC236}">
                <a16:creationId xmlns:a16="http://schemas.microsoft.com/office/drawing/2014/main" id="{A12F1418-F4D1-91EB-467A-7A1ECB0B3044}"/>
              </a:ext>
            </a:extLst>
          </p:cNvPr>
          <p:cNvSpPr>
            <a:spLocks noGrp="1"/>
          </p:cNvSpPr>
          <p:nvPr>
            <p:ph type="sldNum" sz="quarter" idx="12"/>
          </p:nvPr>
        </p:nvSpPr>
        <p:spPr/>
        <p:txBody>
          <a:bodyPr/>
          <a:lstStyle/>
          <a:p>
            <a:endParaRPr lang="en-IN" dirty="0"/>
          </a:p>
        </p:txBody>
      </p:sp>
      <p:pic>
        <p:nvPicPr>
          <p:cNvPr id="4" name="Picture 3">
            <a:extLst>
              <a:ext uri="{FF2B5EF4-FFF2-40B4-BE49-F238E27FC236}">
                <a16:creationId xmlns:a16="http://schemas.microsoft.com/office/drawing/2014/main" id="{92E10DED-9FC2-6B7F-D7B5-AC4EDA60ED18}"/>
              </a:ext>
            </a:extLst>
          </p:cNvPr>
          <p:cNvPicPr>
            <a:picLocks noChangeAspect="1"/>
          </p:cNvPicPr>
          <p:nvPr/>
        </p:nvPicPr>
        <p:blipFill>
          <a:blip r:embed="rId2"/>
          <a:stretch>
            <a:fillRect/>
          </a:stretch>
        </p:blipFill>
        <p:spPr>
          <a:xfrm>
            <a:off x="0" y="-75905"/>
            <a:ext cx="12192000" cy="835152"/>
          </a:xfrm>
          <a:prstGeom prst="rect">
            <a:avLst/>
          </a:prstGeom>
        </p:spPr>
      </p:pic>
      <p:sp>
        <p:nvSpPr>
          <p:cNvPr id="5" name="TextBox 4">
            <a:extLst>
              <a:ext uri="{FF2B5EF4-FFF2-40B4-BE49-F238E27FC236}">
                <a16:creationId xmlns:a16="http://schemas.microsoft.com/office/drawing/2014/main" id="{4AC71FFC-F4F7-9B11-162B-138A2CFE2476}"/>
              </a:ext>
            </a:extLst>
          </p:cNvPr>
          <p:cNvSpPr txBox="1"/>
          <p:nvPr/>
        </p:nvSpPr>
        <p:spPr>
          <a:xfrm>
            <a:off x="422787" y="953729"/>
            <a:ext cx="11582400" cy="4893647"/>
          </a:xfrm>
          <a:prstGeom prst="rect">
            <a:avLst/>
          </a:prstGeom>
          <a:noFill/>
        </p:spPr>
        <p:txBody>
          <a:bodyPr wrap="square" rtlCol="0">
            <a:spAutoFit/>
          </a:bodyPr>
          <a:lstStyle/>
          <a:p>
            <a:r>
              <a:rPr lang="en-US" sz="2400" b="1" dirty="0"/>
              <a:t>2. Sentiment Classification</a:t>
            </a:r>
          </a:p>
          <a:p>
            <a:r>
              <a:rPr lang="en-US" sz="2400" b="1" dirty="0"/>
              <a:t>Purpose:</a:t>
            </a:r>
            <a:r>
              <a:rPr lang="en-US" sz="2400" dirty="0"/>
              <a:t> Analyze public reactions on social media, news, and opinion pieces to gauge sentiment toward budget announcements.</a:t>
            </a:r>
          </a:p>
          <a:p>
            <a:r>
              <a:rPr lang="en-US" sz="2400" b="1" dirty="0"/>
              <a:t>Techniques:</a:t>
            </a:r>
            <a:r>
              <a:rPr lang="en-US" sz="2400" dirty="0"/>
              <a:t> Machine learning classifiers (e.g., Naive Bayes, SVM, or deep learning models) to label text as positive, negative, or neutral.</a:t>
            </a:r>
          </a:p>
          <a:p>
            <a:r>
              <a:rPr lang="en-US" sz="2400" b="1" dirty="0"/>
              <a:t>Contribution:</a:t>
            </a:r>
            <a:r>
              <a:rPr lang="en-US" sz="2400" dirty="0"/>
              <a:t> Provides insight into public perception, investor sentiment, and social response, which complements numerical budget data.</a:t>
            </a:r>
          </a:p>
          <a:p>
            <a:endParaRPr lang="en-US" sz="2400" dirty="0"/>
          </a:p>
          <a:p>
            <a:endParaRPr lang="en-US" sz="2400" dirty="0"/>
          </a:p>
          <a:p>
            <a:endParaRPr lang="en-US" sz="2400" dirty="0"/>
          </a:p>
          <a:p>
            <a:endParaRPr lang="en-US" sz="2400" b="1" dirty="0"/>
          </a:p>
          <a:p>
            <a:endParaRPr lang="en-US" sz="2400" b="1" dirty="0"/>
          </a:p>
          <a:p>
            <a:endParaRPr lang="en-IN" sz="2400" dirty="0"/>
          </a:p>
        </p:txBody>
      </p:sp>
      <p:pic>
        <p:nvPicPr>
          <p:cNvPr id="6" name="Content Placeholder 4">
            <a:extLst>
              <a:ext uri="{FF2B5EF4-FFF2-40B4-BE49-F238E27FC236}">
                <a16:creationId xmlns:a16="http://schemas.microsoft.com/office/drawing/2014/main" id="{13E427FE-10FB-7C44-A047-F57E36488D75}"/>
              </a:ext>
            </a:extLst>
          </p:cNvPr>
          <p:cNvPicPr>
            <a:picLocks noChangeAspect="1"/>
          </p:cNvPicPr>
          <p:nvPr/>
        </p:nvPicPr>
        <p:blipFill>
          <a:blip r:embed="rId3"/>
          <a:stretch>
            <a:fillRect/>
          </a:stretch>
        </p:blipFill>
        <p:spPr>
          <a:xfrm>
            <a:off x="2453149" y="3622983"/>
            <a:ext cx="7285702" cy="3210232"/>
          </a:xfrm>
          <a:prstGeom prst="rect">
            <a:avLst/>
          </a:prstGeom>
        </p:spPr>
      </p:pic>
    </p:spTree>
    <p:extLst>
      <p:ext uri="{BB962C8B-B14F-4D97-AF65-F5344CB8AC3E}">
        <p14:creationId xmlns:p14="http://schemas.microsoft.com/office/powerpoint/2010/main" val="2256928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5F2DA-CED9-F72F-8A41-2CC57EFF1BB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8C3AF84-9E15-5550-47BE-1F6CD9A0F4A8}"/>
              </a:ext>
            </a:extLst>
          </p:cNvPr>
          <p:cNvSpPr>
            <a:spLocks noGrp="1"/>
          </p:cNvSpPr>
          <p:nvPr>
            <p:ph type="dt" sz="half" idx="10"/>
          </p:nvPr>
        </p:nvSpPr>
        <p:spPr/>
        <p:txBody>
          <a:bodyPr/>
          <a:lstStyle/>
          <a:p>
            <a:endParaRPr lang="en-IN" dirty="0"/>
          </a:p>
        </p:txBody>
      </p:sp>
      <p:sp>
        <p:nvSpPr>
          <p:cNvPr id="3" name="Slide Number Placeholder 2">
            <a:extLst>
              <a:ext uri="{FF2B5EF4-FFF2-40B4-BE49-F238E27FC236}">
                <a16:creationId xmlns:a16="http://schemas.microsoft.com/office/drawing/2014/main" id="{7378F514-7A9C-CD59-89A8-AD1296072436}"/>
              </a:ext>
            </a:extLst>
          </p:cNvPr>
          <p:cNvSpPr>
            <a:spLocks noGrp="1"/>
          </p:cNvSpPr>
          <p:nvPr>
            <p:ph type="sldNum" sz="quarter" idx="12"/>
          </p:nvPr>
        </p:nvSpPr>
        <p:spPr/>
        <p:txBody>
          <a:bodyPr/>
          <a:lstStyle/>
          <a:p>
            <a:endParaRPr lang="en-IN" dirty="0"/>
          </a:p>
        </p:txBody>
      </p:sp>
      <p:pic>
        <p:nvPicPr>
          <p:cNvPr id="4" name="Picture 3">
            <a:extLst>
              <a:ext uri="{FF2B5EF4-FFF2-40B4-BE49-F238E27FC236}">
                <a16:creationId xmlns:a16="http://schemas.microsoft.com/office/drawing/2014/main" id="{C4C97738-9054-3FBD-C1A1-94012B0CB4B1}"/>
              </a:ext>
            </a:extLst>
          </p:cNvPr>
          <p:cNvPicPr>
            <a:picLocks noChangeAspect="1"/>
          </p:cNvPicPr>
          <p:nvPr/>
        </p:nvPicPr>
        <p:blipFill>
          <a:blip r:embed="rId2"/>
          <a:stretch>
            <a:fillRect/>
          </a:stretch>
        </p:blipFill>
        <p:spPr>
          <a:xfrm>
            <a:off x="0" y="-75905"/>
            <a:ext cx="12192000" cy="835152"/>
          </a:xfrm>
          <a:prstGeom prst="rect">
            <a:avLst/>
          </a:prstGeom>
        </p:spPr>
      </p:pic>
      <p:sp>
        <p:nvSpPr>
          <p:cNvPr id="5" name="TextBox 4">
            <a:extLst>
              <a:ext uri="{FF2B5EF4-FFF2-40B4-BE49-F238E27FC236}">
                <a16:creationId xmlns:a16="http://schemas.microsoft.com/office/drawing/2014/main" id="{C80DC9D2-E92D-6A63-AD3C-2E22CCC8EE25}"/>
              </a:ext>
            </a:extLst>
          </p:cNvPr>
          <p:cNvSpPr txBox="1"/>
          <p:nvPr/>
        </p:nvSpPr>
        <p:spPr>
          <a:xfrm>
            <a:off x="422787" y="953729"/>
            <a:ext cx="11582400" cy="5632311"/>
          </a:xfrm>
          <a:prstGeom prst="rect">
            <a:avLst/>
          </a:prstGeom>
          <a:noFill/>
        </p:spPr>
        <p:txBody>
          <a:bodyPr wrap="square" rtlCol="0">
            <a:spAutoFit/>
          </a:bodyPr>
          <a:lstStyle/>
          <a:p>
            <a:r>
              <a:rPr lang="en-US" sz="2400" b="1" dirty="0"/>
              <a:t>3. Numerical Forecasting</a:t>
            </a:r>
          </a:p>
          <a:p>
            <a:r>
              <a:rPr lang="en-US" sz="2400" b="1" dirty="0"/>
              <a:t>Purpose:</a:t>
            </a:r>
            <a:r>
              <a:rPr lang="en-US" sz="2400" dirty="0"/>
              <a:t> Predict economic indicators such as GDP growth, sectoral revenues, or fiscal deficits based on historical and current budget data.</a:t>
            </a:r>
          </a:p>
          <a:p>
            <a:r>
              <a:rPr lang="en-US" sz="2400" b="1" dirty="0"/>
              <a:t>Techniques:</a:t>
            </a:r>
            <a:r>
              <a:rPr lang="en-US" sz="2400" dirty="0"/>
              <a:t> Regression models, time series analysis, or other predictive ML algorithms.</a:t>
            </a:r>
          </a:p>
          <a:p>
            <a:r>
              <a:rPr lang="en-US" sz="2400" b="1" dirty="0"/>
              <a:t>Contribution:</a:t>
            </a:r>
            <a:r>
              <a:rPr lang="en-US" sz="2400" dirty="0"/>
              <a:t> Offers quantitative foresight, enabling policymakers, analysts, and businesses to make data-driven decisions.</a:t>
            </a:r>
          </a:p>
          <a:p>
            <a:endParaRPr lang="en-US" sz="2400" dirty="0"/>
          </a:p>
          <a:p>
            <a:r>
              <a:rPr lang="en-US" sz="2400" b="1" dirty="0"/>
              <a:t>4. Web Deployment</a:t>
            </a:r>
          </a:p>
          <a:p>
            <a:r>
              <a:rPr lang="en-US" sz="2400" b="1" dirty="0"/>
              <a:t>Purpose:</a:t>
            </a:r>
            <a:r>
              <a:rPr lang="en-US" sz="2400" dirty="0"/>
              <a:t> Present the results through an </a:t>
            </a:r>
            <a:r>
              <a:rPr lang="en-US" sz="2400" b="1" dirty="0"/>
              <a:t>interactive dashboard</a:t>
            </a:r>
            <a:r>
              <a:rPr lang="en-US" sz="2400" dirty="0"/>
              <a:t> for easy exploration and decision-making.</a:t>
            </a:r>
          </a:p>
          <a:p>
            <a:r>
              <a:rPr lang="en-US" sz="2400" b="1" dirty="0"/>
              <a:t>Techniques:</a:t>
            </a:r>
            <a:r>
              <a:rPr lang="en-US" sz="2400" dirty="0"/>
              <a:t> Web frameworks (e.g., Flask) with integrated charts, tables, and visualizations.</a:t>
            </a:r>
          </a:p>
          <a:p>
            <a:r>
              <a:rPr lang="en-US" sz="2400" b="1" dirty="0"/>
              <a:t>Contribution:</a:t>
            </a:r>
            <a:r>
              <a:rPr lang="en-US" sz="2400" dirty="0"/>
              <a:t> Makes insights accessible to non-technical users and stakeholders, bridging the gap between AI analysis and actionable understanding.</a:t>
            </a:r>
          </a:p>
          <a:p>
            <a:endParaRPr lang="en-US" sz="2400" dirty="0"/>
          </a:p>
          <a:p>
            <a:endParaRPr lang="en-IN" sz="2400" dirty="0"/>
          </a:p>
        </p:txBody>
      </p:sp>
    </p:spTree>
    <p:extLst>
      <p:ext uri="{BB962C8B-B14F-4D97-AF65-F5344CB8AC3E}">
        <p14:creationId xmlns:p14="http://schemas.microsoft.com/office/powerpoint/2010/main" val="316859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712810B-52C6-47E2-BCFE-9909304FFFC3}"/>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0243" name="Title 1">
            <a:extLst>
              <a:ext uri="{FF2B5EF4-FFF2-40B4-BE49-F238E27FC236}">
                <a16:creationId xmlns:a16="http://schemas.microsoft.com/office/drawing/2014/main" id="{D468C870-6C2F-4071-A2C7-F6636B918F47}"/>
              </a:ext>
            </a:extLst>
          </p:cNvPr>
          <p:cNvSpPr txBox="1">
            <a:spLocks/>
          </p:cNvSpPr>
          <p:nvPr/>
        </p:nvSpPr>
        <p:spPr bwMode="auto">
          <a:xfrm>
            <a:off x="2293938" y="205422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F6813525-49D6-4078-92B1-4E3986B5B18A}"/>
              </a:ext>
            </a:extLst>
          </p:cNvPr>
          <p:cNvGraphicFramePr>
            <a:graphicFrameLocks noGrp="1"/>
          </p:cNvGraphicFramePr>
          <p:nvPr>
            <p:extLst>
              <p:ext uri="{D42A27DB-BD31-4B8C-83A1-F6EECF244321}">
                <p14:modId xmlns:p14="http://schemas.microsoft.com/office/powerpoint/2010/main" val="2335406129"/>
              </p:ext>
            </p:extLst>
          </p:nvPr>
        </p:nvGraphicFramePr>
        <p:xfrm>
          <a:off x="1" y="1373495"/>
          <a:ext cx="12191999" cy="4684713"/>
        </p:xfrm>
        <a:graphic>
          <a:graphicData uri="http://schemas.openxmlformats.org/drawingml/2006/table">
            <a:tbl>
              <a:tblPr/>
              <a:tblGrid>
                <a:gridCol w="3516199">
                  <a:extLst>
                    <a:ext uri="{9D8B030D-6E8A-4147-A177-3AD203B41FA5}">
                      <a16:colId xmlns:a16="http://schemas.microsoft.com/office/drawing/2014/main" val="20000"/>
                    </a:ext>
                  </a:extLst>
                </a:gridCol>
                <a:gridCol w="970961">
                  <a:extLst>
                    <a:ext uri="{9D8B030D-6E8A-4147-A177-3AD203B41FA5}">
                      <a16:colId xmlns:a16="http://schemas.microsoft.com/office/drawing/2014/main" val="20001"/>
                    </a:ext>
                  </a:extLst>
                </a:gridCol>
                <a:gridCol w="952107">
                  <a:extLst>
                    <a:ext uri="{9D8B030D-6E8A-4147-A177-3AD203B41FA5}">
                      <a16:colId xmlns:a16="http://schemas.microsoft.com/office/drawing/2014/main" val="20002"/>
                    </a:ext>
                  </a:extLst>
                </a:gridCol>
                <a:gridCol w="923827">
                  <a:extLst>
                    <a:ext uri="{9D8B030D-6E8A-4147-A177-3AD203B41FA5}">
                      <a16:colId xmlns:a16="http://schemas.microsoft.com/office/drawing/2014/main" val="20003"/>
                    </a:ext>
                  </a:extLst>
                </a:gridCol>
                <a:gridCol w="952107">
                  <a:extLst>
                    <a:ext uri="{9D8B030D-6E8A-4147-A177-3AD203B41FA5}">
                      <a16:colId xmlns:a16="http://schemas.microsoft.com/office/drawing/2014/main" val="20004"/>
                    </a:ext>
                  </a:extLst>
                </a:gridCol>
                <a:gridCol w="857839">
                  <a:extLst>
                    <a:ext uri="{9D8B030D-6E8A-4147-A177-3AD203B41FA5}">
                      <a16:colId xmlns:a16="http://schemas.microsoft.com/office/drawing/2014/main" val="20005"/>
                    </a:ext>
                  </a:extLst>
                </a:gridCol>
                <a:gridCol w="1027522">
                  <a:extLst>
                    <a:ext uri="{9D8B030D-6E8A-4147-A177-3AD203B41FA5}">
                      <a16:colId xmlns:a16="http://schemas.microsoft.com/office/drawing/2014/main" val="20006"/>
                    </a:ext>
                  </a:extLst>
                </a:gridCol>
                <a:gridCol w="980387">
                  <a:extLst>
                    <a:ext uri="{9D8B030D-6E8A-4147-A177-3AD203B41FA5}">
                      <a16:colId xmlns:a16="http://schemas.microsoft.com/office/drawing/2014/main" val="20007"/>
                    </a:ext>
                  </a:extLst>
                </a:gridCol>
                <a:gridCol w="961534">
                  <a:extLst>
                    <a:ext uri="{9D8B030D-6E8A-4147-A177-3AD203B41FA5}">
                      <a16:colId xmlns:a16="http://schemas.microsoft.com/office/drawing/2014/main" val="685073454"/>
                    </a:ext>
                  </a:extLst>
                </a:gridCol>
                <a:gridCol w="1049516">
                  <a:extLst>
                    <a:ext uri="{9D8B030D-6E8A-4147-A177-3AD203B41FA5}">
                      <a16:colId xmlns:a16="http://schemas.microsoft.com/office/drawing/2014/main" val="884273161"/>
                    </a:ext>
                  </a:extLst>
                </a:gridCol>
              </a:tblGrid>
              <a:tr h="54386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Months  Activities </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AUG’25</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SEP’25</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OCT’25</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NOV’25</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DEC’25</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JAN’26</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FEB’26</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MAR’26</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APR’26</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614232">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Literature Reviews</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1"/>
                  </a:ext>
                </a:extLst>
              </a:tr>
              <a:tr h="60942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Component Identification &amp; Selection</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2"/>
                  </a:ext>
                </a:extLst>
              </a:tr>
              <a:tr h="582157">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 Collection and Processing</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3"/>
                  </a:ext>
                </a:extLst>
              </a:tr>
              <a:tr h="583761">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Text Analysis and Sentiment </a:t>
                      </a:r>
                      <a:r>
                        <a:rPr kumimoji="0" lang="en-US" sz="16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Classfication</a:t>
                      </a: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4"/>
                  </a:ext>
                </a:extLst>
              </a:tr>
              <a:tr h="583761">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Numerical Forecasting</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5"/>
                  </a:ext>
                </a:extLst>
              </a:tr>
              <a:tr h="583761">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Web Deployment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6"/>
                  </a:ext>
                </a:extLst>
              </a:tr>
              <a:tr h="583761">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Thesis Writing </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7" marR="6858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7"/>
                  </a:ext>
                </a:extLst>
              </a:tr>
            </a:tbl>
          </a:graphicData>
        </a:graphic>
      </p:graphicFrame>
      <p:sp>
        <p:nvSpPr>
          <p:cNvPr id="14" name="Title 1">
            <a:extLst>
              <a:ext uri="{FF2B5EF4-FFF2-40B4-BE49-F238E27FC236}">
                <a16:creationId xmlns:a16="http://schemas.microsoft.com/office/drawing/2014/main" id="{DF87FEE7-4323-4377-9133-6428F30A3541}"/>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Work – Plan </a:t>
            </a:r>
            <a:r>
              <a:rPr lang="en-US" sz="3200" b="1" dirty="0">
                <a:highlight>
                  <a:srgbClr val="FFFF00"/>
                </a:highlight>
                <a:latin typeface="Times New Roman" pitchFamily="18" charset="0"/>
                <a:cs typeface="Times New Roman" pitchFamily="18"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BBD82-CAEF-36B6-91AE-5ED7914427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F45AA0-ACBA-E2AF-084D-6EC75CF85FE2}"/>
              </a:ext>
            </a:extLst>
          </p:cNvPr>
          <p:cNvSpPr txBox="1"/>
          <p:nvPr/>
        </p:nvSpPr>
        <p:spPr>
          <a:xfrm>
            <a:off x="422787" y="953729"/>
            <a:ext cx="11582400" cy="6370975"/>
          </a:xfrm>
          <a:prstGeom prst="rect">
            <a:avLst/>
          </a:prstGeom>
          <a:noFill/>
        </p:spPr>
        <p:txBody>
          <a:bodyPr wrap="square" rtlCol="0">
            <a:spAutoFit/>
          </a:bodyPr>
          <a:lstStyle/>
          <a:p>
            <a:pPr marL="457200" indent="-457200">
              <a:buFont typeface="+mj-lt"/>
              <a:buAutoNum type="arabicPeriod"/>
            </a:pPr>
            <a:r>
              <a:rPr lang="en-IN" sz="2400" b="1" dirty="0"/>
              <a:t>DATA COLLECTION &amp; PREPROCESSING :</a:t>
            </a:r>
          </a:p>
          <a:p>
            <a:pPr marL="342900" indent="-342900">
              <a:buFont typeface="Arial" panose="020B0604020202020204" pitchFamily="34" charset="0"/>
              <a:buChar char="•"/>
            </a:pPr>
            <a:r>
              <a:rPr lang="en-IN" sz="2400" dirty="0"/>
              <a:t>Collected data from multiple reliable sources to support budget analysis: </a:t>
            </a:r>
          </a:p>
          <a:p>
            <a:r>
              <a:rPr lang="en-IN" sz="2400" b="1" dirty="0"/>
              <a:t>Government Portals :  </a:t>
            </a:r>
            <a:r>
              <a:rPr lang="en-IN" sz="2400" dirty="0"/>
              <a:t>Official Union Budget 2024 speech, Budget documents (PDF / Excel).</a:t>
            </a:r>
          </a:p>
          <a:p>
            <a:endParaRPr lang="en-IN" sz="2400" dirty="0"/>
          </a:p>
          <a:p>
            <a:pPr marL="342900" indent="-342900">
              <a:buFont typeface="Arial" panose="020B0604020202020204" pitchFamily="34" charset="0"/>
              <a:buChar char="•"/>
            </a:pPr>
            <a:r>
              <a:rPr lang="en-IN" sz="2400" dirty="0"/>
              <a:t>Performed preprocessing steps to make data ready for ML/NLP: </a:t>
            </a:r>
          </a:p>
          <a:p>
            <a:r>
              <a:rPr lang="en-IN" sz="2400" b="1" dirty="0"/>
              <a:t>Text Cleaning :  </a:t>
            </a:r>
          </a:p>
          <a:p>
            <a:pPr marL="342900" indent="-342900">
              <a:buFont typeface="Arial" panose="020B0604020202020204" pitchFamily="34" charset="0"/>
              <a:buChar char="•"/>
            </a:pPr>
            <a:r>
              <a:rPr lang="en-IN" sz="2400" dirty="0"/>
              <a:t>Removed unwanted characters, Lowercasing of all text. </a:t>
            </a:r>
          </a:p>
          <a:p>
            <a:pPr marL="342900" indent="-342900">
              <a:buFont typeface="Arial" panose="020B0604020202020204" pitchFamily="34" charset="0"/>
              <a:buChar char="•"/>
            </a:pPr>
            <a:r>
              <a:rPr lang="en-IN" sz="2400" dirty="0" err="1"/>
              <a:t>Stopword</a:t>
            </a:r>
            <a:r>
              <a:rPr lang="en-IN" sz="2400" dirty="0"/>
              <a:t> removal (English + finance-specific words). </a:t>
            </a:r>
          </a:p>
          <a:p>
            <a:pPr marL="342900" indent="-342900">
              <a:buFont typeface="Arial" panose="020B0604020202020204" pitchFamily="34" charset="0"/>
              <a:buChar char="•"/>
            </a:pPr>
            <a:r>
              <a:rPr lang="en-IN" sz="2400" dirty="0"/>
              <a:t>Removal of URLs, symbols, and punctuation.</a:t>
            </a:r>
          </a:p>
          <a:p>
            <a:endParaRPr lang="en-IN" sz="2400" dirty="0"/>
          </a:p>
          <a:p>
            <a:r>
              <a:rPr lang="en-IN" sz="2400" b="1" dirty="0"/>
              <a:t>Tokenization &amp; Lemmatization :  </a:t>
            </a:r>
          </a:p>
          <a:p>
            <a:pPr marL="342900" indent="-342900">
              <a:buFont typeface="Arial" panose="020B0604020202020204" pitchFamily="34" charset="0"/>
              <a:buChar char="•"/>
            </a:pPr>
            <a:r>
              <a:rPr lang="en-IN" sz="2400" dirty="0"/>
              <a:t>Tokenized budget speeches and articles. </a:t>
            </a:r>
          </a:p>
          <a:p>
            <a:pPr marL="342900" indent="-342900">
              <a:buFont typeface="Arial" panose="020B0604020202020204" pitchFamily="34" charset="0"/>
              <a:buChar char="•"/>
            </a:pPr>
            <a:r>
              <a:rPr lang="en-IN" sz="2400" dirty="0"/>
              <a:t>Applied lemmatization to reduce words to root form.</a:t>
            </a:r>
          </a:p>
          <a:p>
            <a:endParaRPr lang="en-IN" sz="2400" dirty="0"/>
          </a:p>
          <a:p>
            <a:endParaRPr lang="en-IN" sz="2400" dirty="0"/>
          </a:p>
          <a:p>
            <a:endParaRPr lang="en-IN" sz="2400" dirty="0"/>
          </a:p>
          <a:p>
            <a:endParaRPr lang="en-IN" sz="2400" b="1" dirty="0"/>
          </a:p>
        </p:txBody>
      </p:sp>
      <p:sp>
        <p:nvSpPr>
          <p:cNvPr id="6" name="TextBox 5">
            <a:extLst>
              <a:ext uri="{FF2B5EF4-FFF2-40B4-BE49-F238E27FC236}">
                <a16:creationId xmlns:a16="http://schemas.microsoft.com/office/drawing/2014/main" id="{60CC9B87-502B-A14D-3298-0829B8B9BD54}"/>
              </a:ext>
            </a:extLst>
          </p:cNvPr>
          <p:cNvSpPr txBox="1"/>
          <p:nvPr/>
        </p:nvSpPr>
        <p:spPr>
          <a:xfrm>
            <a:off x="0" y="0"/>
            <a:ext cx="12192000" cy="646331"/>
          </a:xfrm>
          <a:prstGeom prst="rect">
            <a:avLst/>
          </a:prstGeom>
          <a:solidFill>
            <a:schemeClr val="accent2"/>
          </a:solidFill>
        </p:spPr>
        <p:txBody>
          <a:bodyPr wrap="square" rtlCol="0">
            <a:spAutoFit/>
          </a:bodyPr>
          <a:lstStyle/>
          <a:p>
            <a:pPr algn="ctr"/>
            <a:r>
              <a:rPr lang="en-IN" sz="3600" b="1" dirty="0">
                <a:latin typeface="Aparajita" panose="02020603050405020304" pitchFamily="18" charset="0"/>
                <a:cs typeface="Aparajita" panose="02020603050405020304" pitchFamily="18" charset="0"/>
              </a:rPr>
              <a:t>Progress Work Completed</a:t>
            </a:r>
          </a:p>
        </p:txBody>
      </p:sp>
    </p:spTree>
    <p:extLst>
      <p:ext uri="{BB962C8B-B14F-4D97-AF65-F5344CB8AC3E}">
        <p14:creationId xmlns:p14="http://schemas.microsoft.com/office/powerpoint/2010/main" val="2897877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C54E-2431-3A39-6D8A-AFAC27A70F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B0A35FB-CE8E-95B0-FBD8-A853FD0903AB}"/>
              </a:ext>
            </a:extLst>
          </p:cNvPr>
          <p:cNvSpPr txBox="1"/>
          <p:nvPr/>
        </p:nvSpPr>
        <p:spPr>
          <a:xfrm>
            <a:off x="422787" y="953729"/>
            <a:ext cx="11582400" cy="6001643"/>
          </a:xfrm>
          <a:prstGeom prst="rect">
            <a:avLst/>
          </a:prstGeom>
          <a:noFill/>
        </p:spPr>
        <p:txBody>
          <a:bodyPr wrap="square" rtlCol="0">
            <a:spAutoFit/>
          </a:bodyPr>
          <a:lstStyle/>
          <a:p>
            <a:r>
              <a:rPr lang="en-IN" sz="2400" b="1" dirty="0"/>
              <a:t>Structured Dataset Preparation: </a:t>
            </a:r>
          </a:p>
          <a:p>
            <a:pPr marL="342900" indent="-342900">
              <a:buFont typeface="Arial" panose="020B0604020202020204" pitchFamily="34" charset="0"/>
              <a:buChar char="•"/>
            </a:pPr>
            <a:r>
              <a:rPr lang="en-IN" sz="2400" dirty="0"/>
              <a:t>Converted PDF budget text into structured paragraphs.</a:t>
            </a:r>
          </a:p>
          <a:p>
            <a:pPr marL="342900" indent="-342900">
              <a:buFont typeface="Arial" panose="020B0604020202020204" pitchFamily="34" charset="0"/>
              <a:buChar char="•"/>
            </a:pPr>
            <a:r>
              <a:rPr lang="en-IN" sz="2400" dirty="0"/>
              <a:t>Created CSV datasets for numerical forecasting.</a:t>
            </a:r>
          </a:p>
          <a:p>
            <a:endParaRPr lang="en-IN" sz="2400" dirty="0"/>
          </a:p>
          <a:p>
            <a:r>
              <a:rPr lang="en-IN" sz="2400" b="1" dirty="0"/>
              <a:t>Feature Extraction:  </a:t>
            </a:r>
          </a:p>
          <a:p>
            <a:pPr marL="342900" indent="-342900">
              <a:buFont typeface="Arial" panose="020B0604020202020204" pitchFamily="34" charset="0"/>
              <a:buChar char="•"/>
            </a:pPr>
            <a:r>
              <a:rPr lang="en-IN" sz="2400" dirty="0"/>
              <a:t>Generated TF-IDF vectors. </a:t>
            </a:r>
          </a:p>
          <a:p>
            <a:pPr marL="342900" indent="-342900">
              <a:buFont typeface="Arial" panose="020B0604020202020204" pitchFamily="34" charset="0"/>
              <a:buChar char="•"/>
            </a:pPr>
            <a:r>
              <a:rPr lang="en-IN" sz="2400" dirty="0"/>
              <a:t>Extracted keywords for sector-wise classification</a:t>
            </a:r>
          </a:p>
          <a:p>
            <a:endParaRPr lang="en-IN" sz="2400" dirty="0"/>
          </a:p>
          <a:p>
            <a:pPr marL="457200" indent="-457200">
              <a:buAutoNum type="arabicPeriod" startAt="2"/>
            </a:pPr>
            <a:r>
              <a:rPr lang="en-IN" sz="2400" b="1" dirty="0"/>
              <a:t>NLP MODULE : </a:t>
            </a:r>
          </a:p>
          <a:p>
            <a:endParaRPr lang="en-IN" sz="2400" b="1" dirty="0"/>
          </a:p>
          <a:p>
            <a:r>
              <a:rPr lang="en-IN" sz="2400" b="1" dirty="0"/>
              <a:t>Document Parsing &amp; Text Extraction</a:t>
            </a:r>
          </a:p>
          <a:p>
            <a:pPr marL="342900" indent="-342900">
              <a:buFont typeface="Arial" panose="020B0604020202020204" pitchFamily="34" charset="0"/>
              <a:buChar char="•"/>
            </a:pPr>
            <a:r>
              <a:rPr lang="en-IN" sz="2400" dirty="0"/>
              <a:t>Extracted text from PDF budget documents.</a:t>
            </a:r>
          </a:p>
          <a:p>
            <a:pPr marL="342900" indent="-342900">
              <a:buFont typeface="Arial" panose="020B0604020202020204" pitchFamily="34" charset="0"/>
              <a:buChar char="•"/>
            </a:pPr>
            <a:r>
              <a:rPr lang="en-IN" sz="2400" dirty="0"/>
              <a:t>Parsed sections like allocations, policies, sector highlights.</a:t>
            </a:r>
          </a:p>
          <a:p>
            <a:endParaRPr lang="en-IN" sz="2400" b="1" dirty="0"/>
          </a:p>
          <a:p>
            <a:endParaRPr lang="en-IN" sz="2400" b="1" dirty="0"/>
          </a:p>
          <a:p>
            <a:endParaRPr lang="en-IN" sz="2400" b="1" dirty="0"/>
          </a:p>
        </p:txBody>
      </p:sp>
      <p:sp>
        <p:nvSpPr>
          <p:cNvPr id="6" name="TextBox 5">
            <a:extLst>
              <a:ext uri="{FF2B5EF4-FFF2-40B4-BE49-F238E27FC236}">
                <a16:creationId xmlns:a16="http://schemas.microsoft.com/office/drawing/2014/main" id="{B61171D7-A14C-692F-7800-43BFC692A22F}"/>
              </a:ext>
            </a:extLst>
          </p:cNvPr>
          <p:cNvSpPr txBox="1"/>
          <p:nvPr/>
        </p:nvSpPr>
        <p:spPr>
          <a:xfrm>
            <a:off x="0" y="0"/>
            <a:ext cx="12192000" cy="646331"/>
          </a:xfrm>
          <a:prstGeom prst="rect">
            <a:avLst/>
          </a:prstGeom>
          <a:solidFill>
            <a:schemeClr val="accent2"/>
          </a:solidFill>
        </p:spPr>
        <p:txBody>
          <a:bodyPr wrap="square" rtlCol="0">
            <a:spAutoFit/>
          </a:bodyPr>
          <a:lstStyle/>
          <a:p>
            <a:pPr algn="ctr"/>
            <a:r>
              <a:rPr lang="en-IN" sz="3600" b="1" dirty="0">
                <a:latin typeface="Aparajita" panose="02020603050405020304" pitchFamily="18" charset="0"/>
                <a:cs typeface="Aparajita" panose="02020603050405020304" pitchFamily="18" charset="0"/>
              </a:rPr>
              <a:t>Progress Work Completed</a:t>
            </a:r>
          </a:p>
        </p:txBody>
      </p:sp>
    </p:spTree>
    <p:extLst>
      <p:ext uri="{BB962C8B-B14F-4D97-AF65-F5344CB8AC3E}">
        <p14:creationId xmlns:p14="http://schemas.microsoft.com/office/powerpoint/2010/main" val="694577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7056B-5BB5-0122-5653-552476551F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886C48B-E257-94CB-39BF-CE4FFBCCD631}"/>
              </a:ext>
            </a:extLst>
          </p:cNvPr>
          <p:cNvSpPr txBox="1"/>
          <p:nvPr/>
        </p:nvSpPr>
        <p:spPr>
          <a:xfrm>
            <a:off x="473587" y="974049"/>
            <a:ext cx="11582400" cy="8956298"/>
          </a:xfrm>
          <a:prstGeom prst="rect">
            <a:avLst/>
          </a:prstGeom>
          <a:noFill/>
        </p:spPr>
        <p:txBody>
          <a:bodyPr wrap="square" rtlCol="0">
            <a:spAutoFit/>
          </a:bodyPr>
          <a:lstStyle/>
          <a:p>
            <a:r>
              <a:rPr lang="en-IN" sz="2400" b="1" dirty="0"/>
              <a:t>Named Entity Recognition (NER) : </a:t>
            </a:r>
          </a:p>
          <a:p>
            <a:pPr marL="342900" indent="-342900">
              <a:buFont typeface="Arial" panose="020B0604020202020204" pitchFamily="34" charset="0"/>
              <a:buChar char="•"/>
            </a:pPr>
            <a:r>
              <a:rPr lang="en-IN" sz="2400" dirty="0"/>
              <a:t>Identified key entities such as: Sectors (Agriculture, </a:t>
            </a:r>
            <a:r>
              <a:rPr lang="en-IN" sz="2400" dirty="0" err="1"/>
              <a:t>Defense</a:t>
            </a:r>
            <a:r>
              <a:rPr lang="en-IN" sz="2400" dirty="0"/>
              <a:t>, Education, Health). Monetary values. Key policy names. Government ministries.</a:t>
            </a:r>
          </a:p>
          <a:p>
            <a:endParaRPr lang="en-IN" sz="2400" b="1" dirty="0"/>
          </a:p>
          <a:p>
            <a:r>
              <a:rPr lang="en-IN" sz="2400" b="1" dirty="0"/>
              <a:t>Topic </a:t>
            </a:r>
            <a:r>
              <a:rPr lang="en-IN" sz="2400" b="1" dirty="0" err="1"/>
              <a:t>Modeling</a:t>
            </a:r>
            <a:r>
              <a:rPr lang="en-IN" sz="2400" b="1" dirty="0"/>
              <a:t> : </a:t>
            </a:r>
          </a:p>
          <a:p>
            <a:pPr marL="342900" indent="-342900">
              <a:buFont typeface="Arial" panose="020B0604020202020204" pitchFamily="34" charset="0"/>
              <a:buChar char="•"/>
            </a:pPr>
            <a:r>
              <a:rPr lang="en-IN" sz="2400" dirty="0"/>
              <a:t>Performed LDA-based topic </a:t>
            </a:r>
            <a:r>
              <a:rPr lang="en-IN" sz="2400" dirty="0" err="1"/>
              <a:t>modeling</a:t>
            </a:r>
            <a:r>
              <a:rPr lang="en-IN" sz="2400" dirty="0"/>
              <a:t> :  Identified major policy areas in Budget 2024: Infrastructure. Tax reforms. Digital India. Green energy. Social welfare.</a:t>
            </a:r>
          </a:p>
          <a:p>
            <a:endParaRPr lang="en-IN" sz="2400" dirty="0"/>
          </a:p>
          <a:p>
            <a:r>
              <a:rPr lang="en-IN" sz="2400" b="1" dirty="0"/>
              <a:t>Keyword Extraction :</a:t>
            </a:r>
          </a:p>
          <a:p>
            <a:pPr marL="342900" indent="-342900">
              <a:buFont typeface="Arial" panose="020B0604020202020204" pitchFamily="34" charset="0"/>
              <a:buChar char="•"/>
            </a:pPr>
            <a:r>
              <a:rPr lang="en-IN" sz="2400" dirty="0"/>
              <a:t>Used TF-IDF to extract high-priority keywords</a:t>
            </a:r>
          </a:p>
          <a:p>
            <a:pPr marL="342900" indent="-342900">
              <a:buFont typeface="Arial" panose="020B0604020202020204" pitchFamily="34" charset="0"/>
              <a:buChar char="•"/>
            </a:pPr>
            <a:r>
              <a:rPr lang="en-IN" sz="2400" dirty="0"/>
              <a:t>Used for generating initial dashboard insights</a:t>
            </a:r>
          </a:p>
          <a:p>
            <a:endParaRPr lang="en-IN" sz="2400" dirty="0"/>
          </a:p>
          <a:p>
            <a:r>
              <a:rPr lang="en-IN" sz="2400" b="1" dirty="0"/>
              <a:t>Text Categorization :</a:t>
            </a:r>
          </a:p>
          <a:p>
            <a:pPr marL="342900" indent="-342900">
              <a:buFont typeface="Arial" panose="020B0604020202020204" pitchFamily="34" charset="0"/>
              <a:buChar char="•"/>
            </a:pPr>
            <a:r>
              <a:rPr lang="en-IN" sz="2400" dirty="0"/>
              <a:t>Grouped budget data into meaningful categories: Sector allocations. Policy initiatives Investment areas</a:t>
            </a:r>
          </a:p>
          <a:p>
            <a:endParaRPr lang="en-IN" sz="2400" b="1" dirty="0"/>
          </a:p>
          <a:p>
            <a:endParaRPr lang="en-IN" sz="2400" dirty="0"/>
          </a:p>
          <a:p>
            <a:endParaRPr lang="en-IN" sz="2400" dirty="0"/>
          </a:p>
          <a:p>
            <a:endParaRPr lang="en-IN" sz="2400" dirty="0"/>
          </a:p>
          <a:p>
            <a:endParaRPr lang="en-IN" sz="2400" dirty="0"/>
          </a:p>
          <a:p>
            <a:endParaRPr lang="en-IN" sz="2400" dirty="0"/>
          </a:p>
          <a:p>
            <a:endParaRPr lang="en-IN" sz="2400" b="1" dirty="0"/>
          </a:p>
          <a:p>
            <a:endParaRPr lang="en-IN" sz="2400" b="1" dirty="0"/>
          </a:p>
          <a:p>
            <a:endParaRPr lang="en-IN" sz="2400" b="1" dirty="0"/>
          </a:p>
        </p:txBody>
      </p:sp>
      <p:sp>
        <p:nvSpPr>
          <p:cNvPr id="6" name="TextBox 5">
            <a:extLst>
              <a:ext uri="{FF2B5EF4-FFF2-40B4-BE49-F238E27FC236}">
                <a16:creationId xmlns:a16="http://schemas.microsoft.com/office/drawing/2014/main" id="{4DE478AE-6480-1AB1-B57A-795A716BDA62}"/>
              </a:ext>
            </a:extLst>
          </p:cNvPr>
          <p:cNvSpPr txBox="1"/>
          <p:nvPr/>
        </p:nvSpPr>
        <p:spPr>
          <a:xfrm>
            <a:off x="0" y="0"/>
            <a:ext cx="12192000" cy="646331"/>
          </a:xfrm>
          <a:prstGeom prst="rect">
            <a:avLst/>
          </a:prstGeom>
          <a:solidFill>
            <a:schemeClr val="accent2"/>
          </a:solidFill>
        </p:spPr>
        <p:txBody>
          <a:bodyPr wrap="square" rtlCol="0">
            <a:spAutoFit/>
          </a:bodyPr>
          <a:lstStyle/>
          <a:p>
            <a:pPr algn="ctr"/>
            <a:r>
              <a:rPr lang="en-IN" sz="3600" b="1" dirty="0">
                <a:latin typeface="Aparajita" panose="02020603050405020304" pitchFamily="18" charset="0"/>
                <a:cs typeface="Aparajita" panose="02020603050405020304" pitchFamily="18" charset="0"/>
              </a:rPr>
              <a:t>Progress Work Completed</a:t>
            </a:r>
          </a:p>
        </p:txBody>
      </p:sp>
    </p:spTree>
    <p:extLst>
      <p:ext uri="{BB962C8B-B14F-4D97-AF65-F5344CB8AC3E}">
        <p14:creationId xmlns:p14="http://schemas.microsoft.com/office/powerpoint/2010/main" val="13944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080D1F50-5C96-4678-8379-B0CFC84518CC}"/>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9219" name="Title 1">
            <a:extLst>
              <a:ext uri="{FF2B5EF4-FFF2-40B4-BE49-F238E27FC236}">
                <a16:creationId xmlns:a16="http://schemas.microsoft.com/office/drawing/2014/main" id="{5D9F9957-F77C-417D-A88B-97533CC8C656}"/>
              </a:ext>
            </a:extLst>
          </p:cNvPr>
          <p:cNvSpPr txBox="1">
            <a:spLocks/>
          </p:cNvSpPr>
          <p:nvPr/>
        </p:nvSpPr>
        <p:spPr bwMode="auto">
          <a:xfrm>
            <a:off x="2476500" y="409892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C571CA8F-8A31-44E4-974C-A69F920BC889}"/>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Expected Result</a:t>
            </a:r>
          </a:p>
        </p:txBody>
      </p:sp>
      <p:sp>
        <p:nvSpPr>
          <p:cNvPr id="2" name="TextBox 1">
            <a:extLst>
              <a:ext uri="{FF2B5EF4-FFF2-40B4-BE49-F238E27FC236}">
                <a16:creationId xmlns:a16="http://schemas.microsoft.com/office/drawing/2014/main" id="{64042A8F-84A7-CF1A-479E-66B819FDF3A0}"/>
              </a:ext>
            </a:extLst>
          </p:cNvPr>
          <p:cNvSpPr txBox="1"/>
          <p:nvPr/>
        </p:nvSpPr>
        <p:spPr>
          <a:xfrm>
            <a:off x="191729" y="1055762"/>
            <a:ext cx="11808542" cy="5139869"/>
          </a:xfrm>
          <a:prstGeom prst="rect">
            <a:avLst/>
          </a:prstGeom>
          <a:noFill/>
        </p:spPr>
        <p:txBody>
          <a:bodyPr wrap="square" rtlCol="0">
            <a:spAutoFit/>
          </a:bodyPr>
          <a:lstStyle/>
          <a:p>
            <a:endParaRPr lang="en-US" sz="2800" b="1" i="1" dirty="0"/>
          </a:p>
          <a:p>
            <a:pPr marL="342900" indent="-342900">
              <a:buFont typeface="Arial" panose="020B0604020202020204" pitchFamily="34" charset="0"/>
              <a:buChar char="•"/>
            </a:pPr>
            <a:r>
              <a:rPr lang="en-US" sz="2400" dirty="0"/>
              <a:t>Automated system that analyzes budget documents using AI and ML</a:t>
            </a:r>
          </a:p>
          <a:p>
            <a:pPr marL="457200" indent="-4572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Sentimental model that captures real-world public to fiscal policies.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Forecasting engine that predicts economic trends based on past budgets.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Interactive dashboard that visualizes insights for users, policymakers and analysts.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Framework ready for extension into multi-year budget trend analysis and real-time data</a:t>
            </a:r>
          </a:p>
          <a:p>
            <a:r>
              <a:rPr lang="en-US" sz="2400" dirty="0"/>
              <a:t>     streaming.</a:t>
            </a:r>
          </a:p>
          <a:p>
            <a:endParaRPr lang="en-US" sz="2400" b="1" i="1" dirty="0"/>
          </a:p>
          <a:p>
            <a:endParaRPr lang="en-US" dirty="0"/>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DC8403ED-4D67-41C2-B24E-2CD6EBB5E243}"/>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E7542664-F9B8-4727-9DA2-FCE815C98183}"/>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References</a:t>
            </a:r>
          </a:p>
        </p:txBody>
      </p:sp>
      <p:sp>
        <p:nvSpPr>
          <p:cNvPr id="2" name="TextBox 1">
            <a:extLst>
              <a:ext uri="{FF2B5EF4-FFF2-40B4-BE49-F238E27FC236}">
                <a16:creationId xmlns:a16="http://schemas.microsoft.com/office/drawing/2014/main" id="{F12E12AD-DD90-7DFF-8169-EC5228AFE232}"/>
              </a:ext>
            </a:extLst>
          </p:cNvPr>
          <p:cNvSpPr txBox="1"/>
          <p:nvPr/>
        </p:nvSpPr>
        <p:spPr>
          <a:xfrm>
            <a:off x="250722" y="883192"/>
            <a:ext cx="11690555" cy="5262979"/>
          </a:xfrm>
          <a:prstGeom prst="rect">
            <a:avLst/>
          </a:prstGeom>
          <a:noFill/>
        </p:spPr>
        <p:txBody>
          <a:bodyPr wrap="square" rtlCol="0">
            <a:spAutoFit/>
          </a:bodyPr>
          <a:lstStyle/>
          <a:p>
            <a:pPr marL="857250" lvl="1" indent="-400050">
              <a:buFont typeface="+mj-lt"/>
              <a:buAutoNum type="romanUcPeriod"/>
            </a:pPr>
            <a:r>
              <a:rPr lang="en-US" sz="2400" dirty="0"/>
              <a:t> </a:t>
            </a:r>
            <a:r>
              <a:rPr lang="en-US" sz="2400" i="1" dirty="0"/>
              <a:t>Machine learning-based approaches for financial market prediction – A comprehensive review</a:t>
            </a:r>
            <a:r>
              <a:rPr lang="en-US" sz="2400" dirty="0"/>
              <a:t> (ResearchGate).</a:t>
            </a:r>
          </a:p>
          <a:p>
            <a:pPr marL="857250" lvl="1" indent="-400050">
              <a:buFont typeface="+mj-lt"/>
              <a:buAutoNum type="romanUcPeriod"/>
            </a:pPr>
            <a:endParaRPr lang="en-US" sz="2400" dirty="0"/>
          </a:p>
          <a:p>
            <a:pPr marL="857250" lvl="1" indent="-400050">
              <a:buFont typeface="+mj-lt"/>
              <a:buAutoNum type="romanUcPeriod"/>
            </a:pPr>
            <a:endParaRPr lang="en-US" sz="2400" dirty="0"/>
          </a:p>
          <a:p>
            <a:pPr marL="857250" lvl="1" indent="-400050">
              <a:buFont typeface="+mj-lt"/>
              <a:buAutoNum type="romanUcPeriod"/>
            </a:pPr>
            <a:r>
              <a:rPr lang="en-IN" sz="2400" dirty="0"/>
              <a:t>References 1. Budget 2024: FM prioritises affordable housing, Green growth, propels capex. </a:t>
            </a:r>
            <a:r>
              <a:rPr lang="en-IN" sz="2400" dirty="0" err="1"/>
              <a:t>LiveMint</a:t>
            </a:r>
            <a:r>
              <a:rPr lang="en-IN" sz="2400" dirty="0"/>
              <a:t>,     September 7, 2024</a:t>
            </a:r>
          </a:p>
          <a:p>
            <a:pPr marL="857250" lvl="1" indent="-400050">
              <a:buFont typeface="+mj-lt"/>
              <a:buAutoNum type="romanUcPeriod"/>
            </a:pPr>
            <a:endParaRPr lang="en-IN" sz="2400" dirty="0"/>
          </a:p>
          <a:p>
            <a:pPr marL="857250" lvl="1" indent="-400050">
              <a:buFont typeface="+mj-lt"/>
              <a:buAutoNum type="romanUcPeriod"/>
            </a:pPr>
            <a:endParaRPr lang="en-IN" sz="2400" dirty="0"/>
          </a:p>
          <a:p>
            <a:pPr marL="857250" lvl="1" indent="-400050">
              <a:buFont typeface="+mj-lt"/>
              <a:buAutoNum type="romanUcPeriod"/>
            </a:pPr>
            <a:r>
              <a:rPr lang="en-IN" sz="2400" dirty="0"/>
              <a:t>Decoding the digital blueprint: Analysing the upcoming Budget’s strategic investment in the digital economy, Financial Express. 2024 Jul 22. </a:t>
            </a:r>
          </a:p>
          <a:p>
            <a:pPr marL="857250" lvl="1" indent="-400050">
              <a:buFont typeface="+mj-lt"/>
              <a:buAutoNum type="romanUcPeriod"/>
            </a:pPr>
            <a:endParaRPr lang="en-IN" sz="2400" dirty="0"/>
          </a:p>
          <a:p>
            <a:pPr marL="857250" lvl="1" indent="-400050">
              <a:buFont typeface="+mj-lt"/>
              <a:buAutoNum type="romanUcPeriod"/>
            </a:pPr>
            <a:endParaRPr lang="en-IN" sz="2400" dirty="0"/>
          </a:p>
          <a:p>
            <a:pPr marL="857250" lvl="1" indent="-400050">
              <a:buFont typeface="+mj-lt"/>
              <a:buAutoNum type="romanUcPeriod"/>
            </a:pPr>
            <a:r>
              <a:rPr lang="en-IN" sz="2400" dirty="0"/>
              <a:t>Education Budget 2024 Live Updates: Nirmala Sitharaman presents Union Budget 2024,                                               Hindustan Times 2024 Jul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FD3FA55D-E212-440E-AB98-394F3BB5B0E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291" name="Title 1">
            <a:extLst>
              <a:ext uri="{FF2B5EF4-FFF2-40B4-BE49-F238E27FC236}">
                <a16:creationId xmlns:a16="http://schemas.microsoft.com/office/drawing/2014/main" id="{2FD22BAF-7E20-423B-92D7-B4F20785CA3F}"/>
              </a:ext>
            </a:extLst>
          </p:cNvPr>
          <p:cNvSpPr txBox="1">
            <a:spLocks/>
          </p:cNvSpPr>
          <p:nvPr/>
        </p:nvSpPr>
        <p:spPr bwMode="auto">
          <a:xfrm>
            <a:off x="425449" y="562574"/>
            <a:ext cx="113411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auto">
              <a:spcBef>
                <a:spcPts val="0"/>
              </a:spcBef>
              <a:spcAft>
                <a:spcPts val="0"/>
              </a:spcAft>
              <a:buFontTx/>
              <a:buNone/>
              <a:defRPr/>
            </a:pPr>
            <a:r>
              <a:rPr lang="en-US" altLang="en-US" sz="4800" b="1" dirty="0">
                <a:ln w="3175"/>
                <a:solidFill>
                  <a:schemeClr val="tx1">
                    <a:lumMod val="85000"/>
                    <a:lumOff val="15000"/>
                  </a:schemeClr>
                </a:solidFill>
                <a:latin typeface="Times New Roman" panose="02020603050405020304" pitchFamily="18" charset="0"/>
                <a:cs typeface="Times New Roman" panose="02020603050405020304" pitchFamily="18" charset="0"/>
              </a:rPr>
              <a:t>Acknowledgement</a:t>
            </a:r>
          </a:p>
        </p:txBody>
      </p:sp>
      <p:sp>
        <p:nvSpPr>
          <p:cNvPr id="9" name="Rectangle 8">
            <a:extLst>
              <a:ext uri="{FF2B5EF4-FFF2-40B4-BE49-F238E27FC236}">
                <a16:creationId xmlns:a16="http://schemas.microsoft.com/office/drawing/2014/main" id="{75CB057C-CB42-4A3C-BB20-DC3BBBD02709}"/>
              </a:ext>
            </a:extLst>
          </p:cNvPr>
          <p:cNvSpPr/>
          <p:nvPr/>
        </p:nvSpPr>
        <p:spPr>
          <a:xfrm>
            <a:off x="3233737" y="5095276"/>
            <a:ext cx="8532812" cy="1200150"/>
          </a:xfrm>
          <a:prstGeom prst="rect">
            <a:avLst/>
          </a:prstGeom>
        </p:spPr>
        <p:txBody>
          <a:bodyPr>
            <a:spAutoFit/>
          </a:bodyPr>
          <a:lstStyle/>
          <a:p>
            <a:pPr algn="r" fontAlgn="auto">
              <a:spcBef>
                <a:spcPts val="0"/>
              </a:spcBef>
              <a:spcAft>
                <a:spcPts val="0"/>
              </a:spcAft>
              <a:defRPr/>
            </a:pPr>
            <a:r>
              <a:rPr lang="en-US" sz="7200" i="1" dirty="0">
                <a:ln w="3175"/>
                <a:solidFill>
                  <a:schemeClr val="tx1">
                    <a:lumMod val="85000"/>
                    <a:lumOff val="15000"/>
                  </a:schemeClr>
                </a:solidFill>
                <a:effectLst>
                  <a:outerShdw blurRad="50800" dist="39000" dir="5460000" algn="tl">
                    <a:srgbClr val="000000">
                      <a:alpha val="38000"/>
                    </a:srgbClr>
                  </a:outerShdw>
                </a:effectLst>
                <a:latin typeface="Bodoni MT" pitchFamily="18" charset="0"/>
                <a:cs typeface="+mn-cs"/>
              </a:rPr>
              <a:t>Thank you</a:t>
            </a:r>
            <a:endParaRPr lang="en-IN" sz="7200" i="1" dirty="0">
              <a:ln w="3175"/>
              <a:solidFill>
                <a:schemeClr val="tx1">
                  <a:lumMod val="85000"/>
                  <a:lumOff val="15000"/>
                </a:schemeClr>
              </a:solidFill>
              <a:effectLst>
                <a:outerShdw blurRad="50800" dist="39000" dir="5460000" algn="tl">
                  <a:srgbClr val="000000">
                    <a:alpha val="38000"/>
                  </a:srgbClr>
                </a:outerShdw>
              </a:effectLst>
              <a:latin typeface="Bodoni MT" pitchFamily="18" charset="0"/>
              <a:cs typeface="+mn-cs"/>
            </a:endParaRPr>
          </a:p>
        </p:txBody>
      </p:sp>
      <p:sp>
        <p:nvSpPr>
          <p:cNvPr id="3" name="TextBox 2">
            <a:extLst>
              <a:ext uri="{FF2B5EF4-FFF2-40B4-BE49-F238E27FC236}">
                <a16:creationId xmlns:a16="http://schemas.microsoft.com/office/drawing/2014/main" id="{6CBFE68A-8DFC-8600-6E9B-C13AEABA9DCE}"/>
              </a:ext>
            </a:extLst>
          </p:cNvPr>
          <p:cNvSpPr txBox="1"/>
          <p:nvPr/>
        </p:nvSpPr>
        <p:spPr>
          <a:xfrm>
            <a:off x="857965" y="2267037"/>
            <a:ext cx="10476067" cy="1569660"/>
          </a:xfrm>
          <a:prstGeom prst="rect">
            <a:avLst/>
          </a:prstGeom>
          <a:noFill/>
        </p:spPr>
        <p:txBody>
          <a:bodyPr wrap="square">
            <a:spAutoFit/>
          </a:bodyPr>
          <a:lstStyle/>
          <a:p>
            <a:r>
              <a:rPr lang="en-US" sz="2400" dirty="0"/>
              <a:t> We would like to express my sincere gratitude to our project guide </a:t>
            </a:r>
            <a:r>
              <a:rPr lang="en-US" sz="2400" b="1" dirty="0"/>
              <a:t>Mr. Sameer B. Patil</a:t>
            </a:r>
            <a:r>
              <a:rPr lang="en-US" sz="2400" dirty="0"/>
              <a:t> for his valuable guidance and encouragement in selecting and introducing the project “Algorithmic Study of Financial Market”. His support and suggestions have been very helpful in understanding the fundamentals of this research area.</a:t>
            </a:r>
            <a:endParaRPr lang="en-IN" sz="2400"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1309</Words>
  <Application>Microsoft Office PowerPoint</Application>
  <PresentationFormat>Widescreen</PresentationFormat>
  <Paragraphs>226</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Aparajita</vt:lpstr>
      <vt:lpstr>Arial</vt:lpstr>
      <vt:lpstr>Arial Black</vt:lpstr>
      <vt:lpstr>Bodoni MT</vt:lpstr>
      <vt:lpstr>Calibri</vt:lpstr>
      <vt:lpstr>Calibri Light</vt:lpstr>
      <vt:lpstr>Castellar</vt:lpstr>
      <vt:lpstr>Times New Roman</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Mohsin Iqbal Abdul Raheman Sheikh</dc:creator>
  <cp:lastModifiedBy>JANHAVI PATIL</cp:lastModifiedBy>
  <cp:revision>47</cp:revision>
  <dcterms:created xsi:type="dcterms:W3CDTF">2025-08-09T04:47:41Z</dcterms:created>
  <dcterms:modified xsi:type="dcterms:W3CDTF">2025-12-05T12:32:52Z</dcterms:modified>
</cp:coreProperties>
</file>